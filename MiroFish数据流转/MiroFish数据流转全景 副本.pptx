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2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2.xml" ContentType="application/vnd.openxmlformats-officedocument.presentationml.slide+xml"/>
  <Override PartName="/docProps/app.xml" ContentType="application/vnd.openxmlformats-officedocument.extended-properties+xml"/>
  <Override PartName="/ppt/slideLayouts/slideLayout4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3" Type="http://schemas.openxmlformats.org/officeDocument/2006/relationships/slide" Target="slides/slide3.xml" /><Relationship Id="rId24" Type="http://schemas.openxmlformats.org/officeDocument/2006/relationships/viewProps" Target="viewProps.xml" /><Relationship Id="rId23" Type="http://schemas.openxmlformats.org/officeDocument/2006/relationships/tableStyles" Target="tableStyles.xml" /><Relationship Id="rId22" Type="http://schemas.openxmlformats.org/officeDocument/2006/relationships/presProps" Target="presProps.xml" /><Relationship Id="rId21" Type="http://schemas.openxmlformats.org/officeDocument/2006/relationships/slide" Target="slides/slide21.xml" /><Relationship Id="rId0" Type="http://schemas.openxmlformats.org/officeDocument/2006/relationships/slideMaster" Target="slideMasters/slideMaster1.xml" /><Relationship Id="rId19" Type="http://schemas.openxmlformats.org/officeDocument/2006/relationships/slide" Target="slides/slide19.xml" /><Relationship Id="rId18" Type="http://schemas.openxmlformats.org/officeDocument/2006/relationships/slide" Target="slides/slide18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20" Type="http://schemas.openxmlformats.org/officeDocument/2006/relationships/slide" Target="slides/slide20.xml" /><Relationship Id="rId16" Type="http://schemas.openxmlformats.org/officeDocument/2006/relationships/slide" Target="slides/slide16.xml" /><Relationship Id="rId5" Type="http://schemas.openxmlformats.org/officeDocument/2006/relationships/slide" Target="slides/slide5.xml" /><Relationship Id="rId2" Type="http://schemas.openxmlformats.org/officeDocument/2006/relationships/slide" Target="slides/slide2.xml" /><Relationship Id="rId14" Type="http://schemas.openxmlformats.org/officeDocument/2006/relationships/slide" Target="slides/slide14.xml" /><Relationship Id="rId4" Type="http://schemas.openxmlformats.org/officeDocument/2006/relationships/slide" Target="slides/slide4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17" Type="http://schemas.openxmlformats.org/officeDocument/2006/relationships/slide" Target="slides/slide17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9" Type="http://schemas.openxmlformats.org/officeDocument/2006/relationships/slideLayout" Target="../slideLayouts/slideLayout10.xml" /><Relationship Id="rId6" Type="http://schemas.openxmlformats.org/officeDocument/2006/relationships/slideLayout" Target="../slideLayouts/slideLayout7.xml" /><Relationship Id="rId4" Type="http://schemas.openxmlformats.org/officeDocument/2006/relationships/slideLayout" Target="../slideLayouts/slideLayout5.xml" /><Relationship Id="rId3" Type="http://schemas.openxmlformats.org/officeDocument/2006/relationships/slideLayout" Target="../slideLayouts/slideLayout4.xml" /><Relationship Id="rId5" Type="http://schemas.openxmlformats.org/officeDocument/2006/relationships/slideLayout" Target="../slideLayouts/slideLayout6.xml" /><Relationship Id="rId11" Type="http://schemas.openxmlformats.org/officeDocument/2006/relationships/theme" Target="../theme/theme1.xml" /><Relationship Id="rId10" Type="http://schemas.openxmlformats.org/officeDocument/2006/relationships/slideLayout" Target="../slideLayouts/slideLayout11.xml" /><Relationship Id="rId1" Type="http://schemas.openxmlformats.org/officeDocument/2006/relationships/slideLayout" Target="../slideLayouts/slideLayout2.xml" /><Relationship Id="rId2" Type="http://schemas.openxmlformats.org/officeDocument/2006/relationships/slideLayout" Target="../slideLayouts/slideLayout3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6012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897880"/>
            <a:ext cx="12191969" cy="96012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82296" cy="265176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4600" b="1" i="0">
                <a:solidFill>
                  <a:srgbClr val="0E3F8C"/>
                </a:solidFill>
                <a:latin typeface="Microsoft YaHei"/>
                <a:ea typeface="Microsoft YaHei"/>
              </a:rPr>
              <a:t>MiroFish 数据流转全景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78892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400" b="1" i="0">
                <a:solidFill>
                  <a:srgbClr val="1E4FA8"/>
                </a:solidFill>
                <a:latin typeface="Microsoft YaHei"/>
                <a:ea typeface="Microsoft YaHei"/>
              </a:rPr>
              <a:t>从种子文件到智能体人设：数据结构如何一步步变形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611880"/>
            <a:ext cx="95097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700" b="0" i="0">
                <a:solidFill>
                  <a:srgbClr val="4A5568"/>
                </a:solidFill>
                <a:latin typeface="Microsoft YaHei"/>
                <a:ea typeface="Microsoft YaHei"/>
              </a:rPr>
              <a:t>每一页回答同一个问题：这一步拿到什么、吐出什么、数据长什么样、由谁执行。</a:t>
            </a:r>
            <a:endParaRPr/>
          </a:p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700" b="0" i="0">
                <a:solidFill>
                  <a:srgbClr val="4A5568"/>
                </a:solidFill>
                <a:latin typeface="Microsoft YaHei"/>
                <a:ea typeface="Microsoft YaHei"/>
              </a:rPr>
              <a:t>全部结论来自源码逐行核对（backend/app 与 backend/scripts），不含推测。</a:t>
            </a:r>
            <a:endParaRPr/>
          </a:p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700" b="0" i="0">
                <a:solidFill>
                  <a:srgbClr val="4A5568"/>
                </a:solidFill>
                <a:latin typeface="Microsoft YaHei"/>
                <a:ea typeface="Microsoft YaHei"/>
              </a:rPr>
              <a:t>主流程讲原理与数据结构，末尾附录给出文件路径、行号与断点位置。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6144768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</a:rPr>
              <a:t>技术讲解 · 2026 年 9 月 · 基线 git HEAD 39d8491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30" tIns="0" rIns="0" bIns="0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81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五章：全景 → 种子 → 图谱 → 人设 → 复盘与附录</a:t>
            </a:r>
            <a:endParaRPr/>
          </a:p>
        </p:txBody>
      </p:sp>
      <p:sp>
        <p:nvSpPr>
          <p:cNvPr id="182" name="Rounded Rectangle 3"/>
          <p:cNvSpPr/>
          <p:nvPr/>
        </p:nvSpPr>
        <p:spPr>
          <a:xfrm>
            <a:off x="381030" y="1060704"/>
            <a:ext cx="11430000" cy="89611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3" name="Rectangle 4"/>
          <p:cNvSpPr/>
          <p:nvPr/>
        </p:nvSpPr>
        <p:spPr>
          <a:xfrm>
            <a:off x="381030" y="1060704"/>
            <a:ext cx="896112" cy="89611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4" name="TextBox 5"/>
          <p:cNvSpPr txBox="1"/>
          <p:nvPr/>
        </p:nvSpPr>
        <p:spPr>
          <a:xfrm>
            <a:off x="381030" y="1060704"/>
            <a:ext cx="896112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85" name="TextBox 6"/>
          <p:cNvSpPr txBox="1"/>
          <p:nvPr/>
        </p:nvSpPr>
        <p:spPr>
          <a:xfrm>
            <a:off x="1078992" y="1179576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100" b="1" i="0">
                <a:solidFill>
                  <a:srgbClr val="0E3F8C"/>
                </a:solidFill>
                <a:latin typeface="Microsoft YaHei"/>
                <a:ea typeface="Microsoft YaHei"/>
              </a:rPr>
              <a:t>全景与总览</a:t>
            </a:r>
            <a:endParaRPr/>
          </a:p>
        </p:txBody>
      </p:sp>
      <p:sp>
        <p:nvSpPr>
          <p:cNvPr id="186" name="TextBox 7"/>
          <p:cNvSpPr txBox="1"/>
          <p:nvPr/>
        </p:nvSpPr>
        <p:spPr>
          <a:xfrm>
            <a:off x="1078992" y="1545336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谁在什么时候做什么：六次模型调用与数据形态总表</a:t>
            </a:r>
            <a:endParaRPr/>
          </a:p>
        </p:txBody>
      </p:sp>
      <p:sp>
        <p:nvSpPr>
          <p:cNvPr id="187" name="Rounded Rectangle 8"/>
          <p:cNvSpPr/>
          <p:nvPr/>
        </p:nvSpPr>
        <p:spPr>
          <a:xfrm>
            <a:off x="381030" y="2089404"/>
            <a:ext cx="11430000" cy="89611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8" name="Rectangle 9"/>
          <p:cNvSpPr/>
          <p:nvPr/>
        </p:nvSpPr>
        <p:spPr>
          <a:xfrm>
            <a:off x="381030" y="2089404"/>
            <a:ext cx="896112" cy="89611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9" name="TextBox 10"/>
          <p:cNvSpPr txBox="1"/>
          <p:nvPr/>
        </p:nvSpPr>
        <p:spPr>
          <a:xfrm>
            <a:off x="381030" y="2089404"/>
            <a:ext cx="896112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90" name="TextBox 11"/>
          <p:cNvSpPr txBox="1"/>
          <p:nvPr/>
        </p:nvSpPr>
        <p:spPr>
          <a:xfrm>
            <a:off x="1078992" y="2208276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100" b="1" i="0">
                <a:solidFill>
                  <a:srgbClr val="0E3F8C"/>
                </a:solidFill>
                <a:latin typeface="Microsoft YaHei"/>
                <a:ea typeface="Microsoft YaHei"/>
              </a:rPr>
              <a:t>种子与文本</a:t>
            </a:r>
            <a:endParaRPr/>
          </a:p>
        </p:txBody>
      </p:sp>
      <p:sp>
        <p:nvSpPr>
          <p:cNvPr id="191" name="TextBox 12"/>
          <p:cNvSpPr txBox="1"/>
          <p:nvPr/>
        </p:nvSpPr>
        <p:spPr>
          <a:xfrm>
            <a:off x="1078992" y="2574036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文件如何变成字符串、如何被切成块、本体如何被设计出来</a:t>
            </a:r>
            <a:endParaRPr/>
          </a:p>
        </p:txBody>
      </p:sp>
      <p:sp>
        <p:nvSpPr>
          <p:cNvPr id="192" name="Rounded Rectangle 13"/>
          <p:cNvSpPr/>
          <p:nvPr/>
        </p:nvSpPr>
        <p:spPr>
          <a:xfrm>
            <a:off x="381030" y="3118104"/>
            <a:ext cx="11430000" cy="89611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3" name="Rectangle 14"/>
          <p:cNvSpPr/>
          <p:nvPr/>
        </p:nvSpPr>
        <p:spPr>
          <a:xfrm>
            <a:off x="381030" y="3118104"/>
            <a:ext cx="896112" cy="89611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4" name="TextBox 15"/>
          <p:cNvSpPr txBox="1"/>
          <p:nvPr/>
        </p:nvSpPr>
        <p:spPr>
          <a:xfrm>
            <a:off x="381030" y="3118104"/>
            <a:ext cx="896112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95" name="TextBox 16"/>
          <p:cNvSpPr txBox="1"/>
          <p:nvPr/>
        </p:nvSpPr>
        <p:spPr>
          <a:xfrm>
            <a:off x="1078992" y="3236976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100" b="1" i="0">
                <a:solidFill>
                  <a:srgbClr val="0E3F8C"/>
                </a:solidFill>
                <a:latin typeface="Microsoft YaHei"/>
                <a:ea typeface="Microsoft YaHei"/>
              </a:rPr>
              <a:t>文本到知识图谱</a:t>
            </a:r>
            <a:endParaRPr/>
          </a:p>
        </p:txBody>
      </p:sp>
      <p:sp>
        <p:nvSpPr>
          <p:cNvPr id="196" name="TextBox 17"/>
          <p:cNvSpPr txBox="1"/>
          <p:nvPr/>
        </p:nvSpPr>
        <p:spPr>
          <a:xfrm>
            <a:off x="1078992" y="3602736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本体装载、Zep 抽取黑盒、节点读回与过滤</a:t>
            </a:r>
            <a:endParaRPr/>
          </a:p>
        </p:txBody>
      </p:sp>
      <p:sp>
        <p:nvSpPr>
          <p:cNvPr id="197" name="Rounded Rectangle 18"/>
          <p:cNvSpPr/>
          <p:nvPr/>
        </p:nvSpPr>
        <p:spPr>
          <a:xfrm>
            <a:off x="381030" y="4146804"/>
            <a:ext cx="11430000" cy="89611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8" name="Rectangle 19"/>
          <p:cNvSpPr/>
          <p:nvPr/>
        </p:nvSpPr>
        <p:spPr>
          <a:xfrm>
            <a:off x="381030" y="4146804"/>
            <a:ext cx="896112" cy="89611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9" name="TextBox 20"/>
          <p:cNvSpPr txBox="1"/>
          <p:nvPr/>
        </p:nvSpPr>
        <p:spPr>
          <a:xfrm>
            <a:off x="381030" y="4146804"/>
            <a:ext cx="896112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00" name="TextBox 21"/>
          <p:cNvSpPr txBox="1"/>
          <p:nvPr/>
        </p:nvSpPr>
        <p:spPr>
          <a:xfrm>
            <a:off x="1078992" y="4265676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100" b="1" i="0">
                <a:solidFill>
                  <a:srgbClr val="0E3F8C"/>
                </a:solidFill>
                <a:latin typeface="Microsoft YaHei"/>
                <a:ea typeface="Microsoft YaHei"/>
              </a:rPr>
              <a:t>图谱到智能体</a:t>
            </a:r>
            <a:endParaRPr/>
          </a:p>
        </p:txBody>
      </p:sp>
      <p:sp>
        <p:nvSpPr>
          <p:cNvPr id="201" name="TextBox 22"/>
          <p:cNvSpPr txBox="1"/>
          <p:nvPr/>
        </p:nvSpPr>
        <p:spPr>
          <a:xfrm>
            <a:off x="1078992" y="4631436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画像生成、行为配置、事件与时间配置</a:t>
            </a:r>
            <a:endParaRPr/>
          </a:p>
        </p:txBody>
      </p:sp>
      <p:sp>
        <p:nvSpPr>
          <p:cNvPr id="202" name="Rounded Rectangle 23"/>
          <p:cNvSpPr/>
          <p:nvPr/>
        </p:nvSpPr>
        <p:spPr>
          <a:xfrm>
            <a:off x="381030" y="5175504"/>
            <a:ext cx="11430000" cy="89611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3" name="Rectangle 24"/>
          <p:cNvSpPr/>
          <p:nvPr/>
        </p:nvSpPr>
        <p:spPr>
          <a:xfrm>
            <a:off x="381030" y="5175504"/>
            <a:ext cx="896112" cy="896112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4" name="TextBox 25"/>
          <p:cNvSpPr txBox="1"/>
          <p:nvPr/>
        </p:nvSpPr>
        <p:spPr>
          <a:xfrm>
            <a:off x="381030" y="5175504"/>
            <a:ext cx="896112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05" name="TextBox 26"/>
          <p:cNvSpPr txBox="1"/>
          <p:nvPr/>
        </p:nvSpPr>
        <p:spPr>
          <a:xfrm>
            <a:off x="1078992" y="5294376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100" b="1" i="0">
                <a:solidFill>
                  <a:srgbClr val="0E3F8C"/>
                </a:solidFill>
                <a:latin typeface="Microsoft YaHei"/>
                <a:ea typeface="Microsoft YaHei"/>
              </a:rPr>
              <a:t>变形复盘与附录</a:t>
            </a:r>
            <a:endParaRPr/>
          </a:p>
        </p:txBody>
      </p:sp>
      <p:sp>
        <p:nvSpPr>
          <p:cNvPr id="206" name="TextBox 27"/>
          <p:cNvSpPr txBox="1"/>
          <p:nvPr/>
        </p:nvSpPr>
        <p:spPr>
          <a:xfrm>
            <a:off x="1078992" y="5660136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信息在哪些步骤丢失、断点清单与已知缺陷</a:t>
            </a:r>
            <a:endParaRPr/>
          </a:p>
        </p:txBody>
      </p:sp>
      <p:sp>
        <p:nvSpPr>
          <p:cNvPr id="207" name="Rectangle 28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8" name="TextBox 29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  <a:endParaRPr/>
          </a:p>
        </p:txBody>
      </p:sp>
      <p:sp>
        <p:nvSpPr>
          <p:cNvPr id="209" name="TextBox 30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2 / 21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2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2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3" name="Rectangle 3"/>
          <p:cNvSpPr/>
          <p:nvPr/>
        </p:nvSpPr>
        <p:spPr>
          <a:xfrm>
            <a:off x="3291840" y="0"/>
            <a:ext cx="54864" cy="685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4" name="TextBox 4"/>
          <p:cNvSpPr txBox="1"/>
          <p:nvPr/>
        </p:nvSpPr>
        <p:spPr>
          <a:xfrm>
            <a:off x="502920" y="1828800"/>
            <a:ext cx="26517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200" b="1" i="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45" name="TextBox 5"/>
          <p:cNvSpPr txBox="1"/>
          <p:nvPr/>
        </p:nvSpPr>
        <p:spPr>
          <a:xfrm>
            <a:off x="3886200" y="1965960"/>
            <a:ext cx="7680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800" b="1" i="0">
                <a:solidFill>
                  <a:srgbClr val="0E3F8C"/>
                </a:solidFill>
                <a:latin typeface="Microsoft YaHei"/>
                <a:ea typeface="Microsoft YaHei"/>
              </a:rPr>
              <a:t>全景与总览</a:t>
            </a:r>
            <a:endParaRPr/>
          </a:p>
        </p:txBody>
      </p:sp>
      <p:sp>
        <p:nvSpPr>
          <p:cNvPr id="246" name="Rectangle 6"/>
          <p:cNvSpPr/>
          <p:nvPr/>
        </p:nvSpPr>
        <p:spPr>
          <a:xfrm>
            <a:off x="3886200" y="3182112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7" name="TextBox 7"/>
          <p:cNvSpPr txBox="1"/>
          <p:nvPr/>
        </p:nvSpPr>
        <p:spPr>
          <a:xfrm>
            <a:off x="4169663" y="3063240"/>
            <a:ext cx="7406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六个阶段，三个执行者交替接力</a:t>
            </a:r>
            <a:endParaRPr/>
          </a:p>
        </p:txBody>
      </p:sp>
      <p:sp>
        <p:nvSpPr>
          <p:cNvPr id="248" name="Rectangle 8"/>
          <p:cNvSpPr/>
          <p:nvPr/>
        </p:nvSpPr>
        <p:spPr>
          <a:xfrm>
            <a:off x="3886200" y="3840480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9" name="TextBox 9"/>
          <p:cNvSpPr txBox="1"/>
          <p:nvPr/>
        </p:nvSpPr>
        <p:spPr>
          <a:xfrm>
            <a:off x="4169663" y="3721608"/>
            <a:ext cx="7406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只有实体抽取不在本项目内</a:t>
            </a:r>
            <a:endParaRPr/>
          </a:p>
        </p:txBody>
      </p:sp>
      <p:sp>
        <p:nvSpPr>
          <p:cNvPr id="250" name="Rectangle 10"/>
          <p:cNvSpPr/>
          <p:nvPr/>
        </p:nvSpPr>
        <p:spPr>
          <a:xfrm>
            <a:off x="3886200" y="4498848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1" name="TextBox 11"/>
          <p:cNvSpPr txBox="1"/>
          <p:nvPr/>
        </p:nvSpPr>
        <p:spPr>
          <a:xfrm>
            <a:off x="4169663" y="4379976"/>
            <a:ext cx="7406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一张表看清每一步的输入与输出</a:t>
            </a:r>
            <a:endParaRPr/>
          </a:p>
        </p:txBody>
      </p:sp>
      <p:sp>
        <p:nvSpPr>
          <p:cNvPr id="252" name="TextBox 12"/>
          <p:cNvSpPr txBox="1"/>
          <p:nvPr/>
        </p:nvSpPr>
        <p:spPr>
          <a:xfrm>
            <a:off x="3886200" y="603504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>
                <a:solidFill>
                  <a:srgbClr val="8B97A8"/>
                </a:solidFill>
                <a:latin typeface="Microsoft YaHei"/>
                <a:ea typeface="Microsoft YaHei"/>
              </a:rPr>
              <a:t>第 3 页 / 共 21 页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2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30" tIns="0" rIns="0" bIns="0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全景：数据如何在六个阶段变形</a:t>
            </a:r>
            <a:endParaRPr/>
          </a:p>
        </p:txBody>
      </p:sp>
      <p:sp>
        <p:nvSpPr>
          <p:cNvPr id="255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三个执行者交替接力：本项目代码 / 本项目调用的模型 / Zep 云端</a:t>
            </a:r>
            <a:endParaRPr/>
          </a:p>
        </p:txBody>
      </p:sp>
      <p:sp>
        <p:nvSpPr>
          <p:cNvPr id="256" name="Rounded Rectangle 3"/>
          <p:cNvSpPr/>
          <p:nvPr/>
        </p:nvSpPr>
        <p:spPr>
          <a:xfrm>
            <a:off x="381030" y="1481328"/>
            <a:ext cx="1821180" cy="214884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7" name="Rectangle 4"/>
          <p:cNvSpPr/>
          <p:nvPr/>
        </p:nvSpPr>
        <p:spPr>
          <a:xfrm>
            <a:off x="381030" y="1481328"/>
            <a:ext cx="1821180" cy="38404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8" name="TextBox 5"/>
          <p:cNvSpPr txBox="1"/>
          <p:nvPr/>
        </p:nvSpPr>
        <p:spPr>
          <a:xfrm>
            <a:off x="381030" y="1481328"/>
            <a:ext cx="18211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① 本体生成</a:t>
            </a:r>
            <a:endParaRPr/>
          </a:p>
        </p:txBody>
      </p:sp>
      <p:sp>
        <p:nvSpPr>
          <p:cNvPr id="259" name="TextBox 6"/>
          <p:cNvSpPr txBox="1"/>
          <p:nvPr/>
        </p:nvSpPr>
        <p:spPr>
          <a:xfrm>
            <a:off x="472470" y="1993392"/>
            <a:ext cx="1638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本项目 · 模型</a:t>
            </a:r>
            <a:endParaRPr/>
          </a:p>
        </p:txBody>
      </p:sp>
      <p:sp>
        <p:nvSpPr>
          <p:cNvPr id="260" name="TextBox 7"/>
          <p:cNvSpPr txBox="1"/>
          <p:nvPr/>
        </p:nvSpPr>
        <p:spPr>
          <a:xfrm>
            <a:off x="472470" y="2414016"/>
            <a:ext cx="16383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文本 → 类型 schema</a:t>
            </a:r>
            <a:endParaRPr/>
          </a:p>
        </p:txBody>
      </p:sp>
      <p:sp>
        <p:nvSpPr>
          <p:cNvPr id="261" name="Rounded Rectangle 8"/>
          <p:cNvSpPr/>
          <p:nvPr/>
        </p:nvSpPr>
        <p:spPr>
          <a:xfrm>
            <a:off x="2302794" y="1481328"/>
            <a:ext cx="1821180" cy="214884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62" name="Rectangle 9"/>
          <p:cNvSpPr/>
          <p:nvPr/>
        </p:nvSpPr>
        <p:spPr>
          <a:xfrm>
            <a:off x="2302794" y="1481328"/>
            <a:ext cx="1821180" cy="384048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63" name="TextBox 10"/>
          <p:cNvSpPr txBox="1"/>
          <p:nvPr/>
        </p:nvSpPr>
        <p:spPr>
          <a:xfrm>
            <a:off x="2302794" y="1481328"/>
            <a:ext cx="18211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② 装载本体</a:t>
            </a:r>
            <a:endParaRPr/>
          </a:p>
        </p:txBody>
      </p:sp>
      <p:sp>
        <p:nvSpPr>
          <p:cNvPr id="264" name="TextBox 11"/>
          <p:cNvSpPr txBox="1"/>
          <p:nvPr/>
        </p:nvSpPr>
        <p:spPr>
          <a:xfrm>
            <a:off x="2394234" y="1993392"/>
            <a:ext cx="1638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4A5568"/>
                </a:solidFill>
                <a:latin typeface="Microsoft YaHei"/>
                <a:ea typeface="Microsoft YaHei"/>
              </a:rPr>
              <a:t>本项目 · 代码</a:t>
            </a:r>
            <a:endParaRPr/>
          </a:p>
        </p:txBody>
      </p:sp>
      <p:sp>
        <p:nvSpPr>
          <p:cNvPr id="265" name="TextBox 12"/>
          <p:cNvSpPr txBox="1"/>
          <p:nvPr/>
        </p:nvSpPr>
        <p:spPr>
          <a:xfrm>
            <a:off x="2394234" y="2414016"/>
            <a:ext cx="16383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schema → Pydantic 类</a:t>
            </a:r>
            <a:endParaRPr/>
          </a:p>
        </p:txBody>
      </p:sp>
      <p:sp>
        <p:nvSpPr>
          <p:cNvPr id="266" name="Rounded Rectangle 13"/>
          <p:cNvSpPr/>
          <p:nvPr/>
        </p:nvSpPr>
        <p:spPr>
          <a:xfrm>
            <a:off x="4224558" y="1481328"/>
            <a:ext cx="1821180" cy="214884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67" name="Rectangle 14"/>
          <p:cNvSpPr/>
          <p:nvPr/>
        </p:nvSpPr>
        <p:spPr>
          <a:xfrm>
            <a:off x="4224558" y="1481328"/>
            <a:ext cx="1821180" cy="384048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68" name="TextBox 15"/>
          <p:cNvSpPr txBox="1"/>
          <p:nvPr/>
        </p:nvSpPr>
        <p:spPr>
          <a:xfrm>
            <a:off x="4224558" y="1481328"/>
            <a:ext cx="18211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③ 实体抽取</a:t>
            </a:r>
            <a:endParaRPr/>
          </a:p>
        </p:txBody>
      </p:sp>
      <p:sp>
        <p:nvSpPr>
          <p:cNvPr id="269" name="TextBox 16"/>
          <p:cNvSpPr txBox="1"/>
          <p:nvPr/>
        </p:nvSpPr>
        <p:spPr>
          <a:xfrm>
            <a:off x="4315998" y="1993392"/>
            <a:ext cx="1638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D9534F"/>
                </a:solidFill>
                <a:latin typeface="Microsoft YaHei"/>
                <a:ea typeface="Microsoft YaHei"/>
              </a:rPr>
              <a:t>Zep 云端 · 黑盒</a:t>
            </a:r>
            <a:endParaRPr/>
          </a:p>
        </p:txBody>
      </p:sp>
      <p:sp>
        <p:nvSpPr>
          <p:cNvPr id="270" name="TextBox 17"/>
          <p:cNvSpPr txBox="1"/>
          <p:nvPr/>
        </p:nvSpPr>
        <p:spPr>
          <a:xfrm>
            <a:off x="4315998" y="2414016"/>
            <a:ext cx="16383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文本块 → 节点与边</a:t>
            </a:r>
            <a:endParaRPr/>
          </a:p>
        </p:txBody>
      </p:sp>
      <p:sp>
        <p:nvSpPr>
          <p:cNvPr id="271" name="Rounded Rectangle 18"/>
          <p:cNvSpPr/>
          <p:nvPr/>
        </p:nvSpPr>
        <p:spPr>
          <a:xfrm>
            <a:off x="6146322" y="1481328"/>
            <a:ext cx="1821180" cy="214884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2" name="Rectangle 19"/>
          <p:cNvSpPr/>
          <p:nvPr/>
        </p:nvSpPr>
        <p:spPr>
          <a:xfrm>
            <a:off x="6146322" y="1481328"/>
            <a:ext cx="1821180" cy="38404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3" name="TextBox 20"/>
          <p:cNvSpPr txBox="1"/>
          <p:nvPr/>
        </p:nvSpPr>
        <p:spPr>
          <a:xfrm>
            <a:off x="6146322" y="1481328"/>
            <a:ext cx="18211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④ 画像生成</a:t>
            </a:r>
            <a:endParaRPr/>
          </a:p>
        </p:txBody>
      </p:sp>
      <p:sp>
        <p:nvSpPr>
          <p:cNvPr id="274" name="TextBox 21"/>
          <p:cNvSpPr txBox="1"/>
          <p:nvPr/>
        </p:nvSpPr>
        <p:spPr>
          <a:xfrm>
            <a:off x="6237762" y="1993392"/>
            <a:ext cx="1638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本项目 · 模型</a:t>
            </a:r>
            <a:endParaRPr/>
          </a:p>
        </p:txBody>
      </p:sp>
      <p:sp>
        <p:nvSpPr>
          <p:cNvPr id="275" name="TextBox 22"/>
          <p:cNvSpPr txBox="1"/>
          <p:nvPr/>
        </p:nvSpPr>
        <p:spPr>
          <a:xfrm>
            <a:off x="6237762" y="2414016"/>
            <a:ext cx="16383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实体 → 人设</a:t>
            </a:r>
            <a:endParaRPr/>
          </a:p>
        </p:txBody>
      </p:sp>
      <p:sp>
        <p:nvSpPr>
          <p:cNvPr id="276" name="Rounded Rectangle 23"/>
          <p:cNvSpPr/>
          <p:nvPr/>
        </p:nvSpPr>
        <p:spPr>
          <a:xfrm>
            <a:off x="8068086" y="1481328"/>
            <a:ext cx="1821180" cy="214884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7" name="Rectangle 24"/>
          <p:cNvSpPr/>
          <p:nvPr/>
        </p:nvSpPr>
        <p:spPr>
          <a:xfrm>
            <a:off x="8068086" y="1481328"/>
            <a:ext cx="1821180" cy="38404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8" name="TextBox 25"/>
          <p:cNvSpPr txBox="1"/>
          <p:nvPr/>
        </p:nvSpPr>
        <p:spPr>
          <a:xfrm>
            <a:off x="8068086" y="1481328"/>
            <a:ext cx="18211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⑤ 行为配置</a:t>
            </a:r>
            <a:endParaRPr/>
          </a:p>
        </p:txBody>
      </p:sp>
      <p:sp>
        <p:nvSpPr>
          <p:cNvPr id="279" name="TextBox 26"/>
          <p:cNvSpPr txBox="1"/>
          <p:nvPr/>
        </p:nvSpPr>
        <p:spPr>
          <a:xfrm>
            <a:off x="8159526" y="1993392"/>
            <a:ext cx="1638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本项目 · 模型</a:t>
            </a:r>
            <a:endParaRPr/>
          </a:p>
        </p:txBody>
      </p:sp>
      <p:sp>
        <p:nvSpPr>
          <p:cNvPr id="280" name="TextBox 27"/>
          <p:cNvSpPr txBox="1"/>
          <p:nvPr/>
        </p:nvSpPr>
        <p:spPr>
          <a:xfrm>
            <a:off x="8159526" y="2414016"/>
            <a:ext cx="16383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实体 → 行为参数</a:t>
            </a:r>
            <a:endParaRPr/>
          </a:p>
        </p:txBody>
      </p:sp>
      <p:sp>
        <p:nvSpPr>
          <p:cNvPr id="281" name="Rounded Rectangle 28"/>
          <p:cNvSpPr/>
          <p:nvPr/>
        </p:nvSpPr>
        <p:spPr>
          <a:xfrm>
            <a:off x="9989850" y="1481328"/>
            <a:ext cx="1821180" cy="214884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2" name="Rectangle 29"/>
          <p:cNvSpPr/>
          <p:nvPr/>
        </p:nvSpPr>
        <p:spPr>
          <a:xfrm>
            <a:off x="9989850" y="1481328"/>
            <a:ext cx="1821180" cy="38404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3" name="TextBox 30"/>
          <p:cNvSpPr txBox="1"/>
          <p:nvPr/>
        </p:nvSpPr>
        <p:spPr>
          <a:xfrm>
            <a:off x="9989850" y="1481328"/>
            <a:ext cx="18211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⑥ 事件配置</a:t>
            </a:r>
            <a:endParaRPr/>
          </a:p>
        </p:txBody>
      </p:sp>
      <p:sp>
        <p:nvSpPr>
          <p:cNvPr id="284" name="TextBox 31"/>
          <p:cNvSpPr txBox="1"/>
          <p:nvPr/>
        </p:nvSpPr>
        <p:spPr>
          <a:xfrm>
            <a:off x="10081290" y="1993392"/>
            <a:ext cx="1638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本项目 · 模型</a:t>
            </a:r>
            <a:endParaRPr/>
          </a:p>
        </p:txBody>
      </p:sp>
      <p:sp>
        <p:nvSpPr>
          <p:cNvPr id="285" name="TextBox 32"/>
          <p:cNvSpPr txBox="1"/>
          <p:nvPr/>
        </p:nvSpPr>
        <p:spPr>
          <a:xfrm>
            <a:off x="10081290" y="2414016"/>
            <a:ext cx="16383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实体 → 初始帖子</a:t>
            </a:r>
            <a:endParaRPr/>
          </a:p>
        </p:txBody>
      </p:sp>
      <p:sp>
        <p:nvSpPr>
          <p:cNvPr id="286" name="Rounded Rectangle 33"/>
          <p:cNvSpPr/>
          <p:nvPr/>
        </p:nvSpPr>
        <p:spPr>
          <a:xfrm>
            <a:off x="381030" y="3822191"/>
            <a:ext cx="11430000" cy="566928"/>
          </a:xfrm>
          <a:prstGeom prst="roundRect">
            <a:avLst>
              <a:gd name="adj" fmla="val 3000"/>
            </a:avLst>
          </a:prstGeom>
          <a:solidFill>
            <a:srgbClr val="E8EFF8"/>
          </a:solidFill>
          <a:ln w="12700">
            <a:solidFill>
              <a:srgbClr val="3D7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7" name="TextBox 34"/>
          <p:cNvSpPr txBox="1"/>
          <p:nvPr/>
        </p:nvSpPr>
        <p:spPr>
          <a:xfrm>
            <a:off x="563910" y="3822191"/>
            <a:ext cx="11064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0E3F8C"/>
                </a:solidFill>
                <a:latin typeface="Microsoft YaHei"/>
                <a:ea typeface="Microsoft YaHei"/>
              </a:rPr>
              <a:t>阶段 0（前置，纯代码）：文件 → 文本 → 按 500 字符切块。它是后面所有阶段的输入源头。</a:t>
            </a:r>
            <a:endParaRPr/>
          </a:p>
        </p:txBody>
      </p:sp>
      <p:sp>
        <p:nvSpPr>
          <p:cNvPr id="288" name="Rounded Rectangle 35"/>
          <p:cNvSpPr/>
          <p:nvPr/>
        </p:nvSpPr>
        <p:spPr>
          <a:xfrm>
            <a:off x="381030" y="4590288"/>
            <a:ext cx="11430000" cy="1481328"/>
          </a:xfrm>
          <a:prstGeom prst="roundRect">
            <a:avLst>
              <a:gd name="adj" fmla="val 3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9" name="TextBox 36"/>
          <p:cNvSpPr txBox="1"/>
          <p:nvPr/>
        </p:nvSpPr>
        <p:spPr>
          <a:xfrm>
            <a:off x="637062" y="4736592"/>
            <a:ext cx="1091793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900" b="1" i="0">
                <a:solidFill>
                  <a:srgbClr val="FFC107"/>
                </a:solidFill>
                <a:latin typeface="Microsoft YaHei"/>
                <a:ea typeface="Microsoft YaHei"/>
              </a:rPr>
              <a:t>关键判断：六次模型调用里，只有 ③ 不在本项目内。</a:t>
            </a:r>
            <a:endParaRPr/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</a:rPr>
              <a:t>③ 由 Zep Cloud 服务端完成，代码里没有任何抽取提示词可以修改。想提升抽取质量，</a:t>
            </a:r>
            <a:endParaRPr/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</a:rPr>
              <a:t>只能改本体的类型定义，或改喂进去的文本块——这正是种子结构设计的价值所在。</a:t>
            </a:r>
            <a:endParaRPr/>
          </a:p>
        </p:txBody>
      </p:sp>
      <p:sp>
        <p:nvSpPr>
          <p:cNvPr id="290" name="Rectangle 37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1" name="TextBox 38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  <a:endParaRPr/>
          </a:p>
        </p:txBody>
      </p:sp>
      <p:sp>
        <p:nvSpPr>
          <p:cNvPr id="292" name="TextBox 39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4 / 21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16="http://schemas.microsoft.com/office/drawing/2014/main" xmlns:a="http://schemas.openxmlformats.org/drawingml/2006/main" xmlns:p="http://schemas.openxmlformats.org/presentationml/2006/main" xmlns:mc="http://schemas.openxmlformats.org/markup-compatibility/2006" mc:Ignorable="a16">
  <p:cSld>
    <p:spTree>
      <p:nvGrpSpPr>
        <p:cNvPr id="2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30" tIns="0" rIns="0" bIns="0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数据形态总表：每一步的输入与输出</a:t>
            </a:r>
            <a:endParaRPr/>
          </a:p>
        </p:txBody>
      </p:sp>
      <p:sp>
        <p:nvSpPr>
          <p:cNvPr id="295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同一份素材，形态被改写六次</a:t>
            </a:r>
            <a:endParaRPr/>
          </a:p>
        </p:txBody>
      </p:sp>
      <p:graphicFrame>
        <p:nvGraphicFramePr>
          <p:cNvPr id="296" name="Table 3"/>
          <p:cNvGraphicFramePr>
            <a:graphicFrameLocks noGrp="1"/>
          </p:cNvGraphicFramePr>
          <p:nvPr/>
        </p:nvGraphicFramePr>
        <p:xfrm>
          <a:off x="381030" y="118872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val="1"/>
                    </a:ext>
                  </a:extLst>
                </a:gridCol>
                <a:gridCol w="2331720">
                  <a:extLst>
                    <a:ext uri="{9D8B030D-6E8A-4147-A177-3AD203B41FA5}">
                      <a16:colId val="2"/>
                    </a:ext>
                  </a:extLst>
                </a:gridCol>
                <a:gridCol w="2286000">
                  <a:extLst>
                    <a:ext uri="{9D8B030D-6E8A-4147-A177-3AD203B41FA5}">
                      <a16:colId val="3"/>
                    </a:ext>
                  </a:extLst>
                </a:gridCol>
                <a:gridCol w="3657600">
                  <a:extLst>
                    <a:ext uri="{9D8B030D-6E8A-4147-A177-3AD203B41FA5}">
                      <a16:colId val="4"/>
                    </a:ext>
                  </a:extLst>
                </a:gridCol>
                <a:gridCol w="2103120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/>
                      <a:r>
                        <a:rPr sz="15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阶段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5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输入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5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输出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5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数据结构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5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执行者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/>
                      <a:r>
                        <a:rPr sz="135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0 解析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pdf / md / txt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带文档头的长文本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str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代码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/>
                      <a:r>
                        <a:rPr sz="135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0 切块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长文本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若干文本块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List[str]（500 字 / 50 重叠）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代码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/>
                      <a:r>
                        <a:rPr sz="135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① 本体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List[str] + 需求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10 类实体 + 边类型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dict（entity_types / edge_types）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模型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/>
                      <a:r>
                        <a:rPr sz="135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② 装载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本体 dict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Zep 侧类型约束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动态 Pydantic 类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代码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/>
                      <a:r>
                        <a:rPr sz="135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③ 抽取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文本块 + 类型约束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节点与边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Zep 图对象（黑盒）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Zep 云端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/>
                      <a:r>
                        <a:rPr sz="135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④ 读回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图节点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带上下文的实体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EntityNode（dataclass）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代码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/>
                      <a:r>
                        <a:rPr sz="135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⑤ 画像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EntityNode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人设字段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OasisAgentProfile（dataclass）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模型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/>
                      <a:r>
                        <a:rPr sz="135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⑥ 配置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实体列表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行为与事件参数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AgentActivityConfig / EventConfig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5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模型</a:t>
                      </a:r>
                      <a:endParaRPr/>
                    </a:p>
                  </a:txBody>
                  <a:tcPr marL="91440" marR="54864" marT="36576" marB="36576" anchor="ctr"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</a:tbl>
          </a:graphicData>
        </a:graphic>
      </p:graphicFrame>
      <p:sp>
        <p:nvSpPr>
          <p:cNvPr id="297" name="Rectangle 4"/>
          <p:cNvSpPr/>
          <p:nvPr/>
        </p:nvSpPr>
        <p:spPr>
          <a:xfrm>
            <a:off x="381030" y="6391656"/>
            <a:ext cx="11430000" cy="18288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8" name="TextBox 5"/>
          <p:cNvSpPr txBox="1"/>
          <p:nvPr/>
        </p:nvSpPr>
        <p:spPr>
          <a:xfrm>
            <a:off x="381030" y="6419088"/>
            <a:ext cx="11430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0E3F8C"/>
                </a:solidFill>
                <a:latin typeface="Microsoft YaHei"/>
                <a:ea typeface="Microsoft YaHei"/>
              </a:rPr>
              <a:t>读法：横着看是「形态怎么变」，竖着看是「谁在负责」。执行者为「代码」的两行不需要模型参与。</a:t>
            </a:r>
            <a:endParaRPr/>
          </a:p>
        </p:txBody>
      </p:sp>
      <p:sp>
        <p:nvSpPr>
          <p:cNvPr id="299" name="Rectangle 6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0" name="TextBox 7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  <a:endParaRPr/>
          </a:p>
        </p:txBody>
      </p:sp>
      <p:sp>
        <p:nvSpPr>
          <p:cNvPr id="301" name="TextBox 8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5 / 21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3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4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5" name="Rectangle 3"/>
          <p:cNvSpPr/>
          <p:nvPr/>
        </p:nvSpPr>
        <p:spPr>
          <a:xfrm>
            <a:off x="3291840" y="0"/>
            <a:ext cx="54864" cy="685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6" name="TextBox 4"/>
          <p:cNvSpPr txBox="1"/>
          <p:nvPr/>
        </p:nvSpPr>
        <p:spPr>
          <a:xfrm>
            <a:off x="502920" y="1828800"/>
            <a:ext cx="26517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200" b="1" i="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07" name="TextBox 5"/>
          <p:cNvSpPr txBox="1"/>
          <p:nvPr/>
        </p:nvSpPr>
        <p:spPr>
          <a:xfrm>
            <a:off x="3886200" y="1965960"/>
            <a:ext cx="7680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800" b="1" i="0">
                <a:solidFill>
                  <a:srgbClr val="0E3F8C"/>
                </a:solidFill>
                <a:latin typeface="Microsoft YaHei"/>
                <a:ea typeface="Microsoft YaHei"/>
              </a:rPr>
              <a:t>种子与文本</a:t>
            </a:r>
            <a:endParaRPr/>
          </a:p>
        </p:txBody>
      </p:sp>
      <p:sp>
        <p:nvSpPr>
          <p:cNvPr id="308" name="Rectangle 6"/>
          <p:cNvSpPr/>
          <p:nvPr/>
        </p:nvSpPr>
        <p:spPr>
          <a:xfrm>
            <a:off x="3886200" y="3182112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9" name="TextBox 7"/>
          <p:cNvSpPr txBox="1"/>
          <p:nvPr/>
        </p:nvSpPr>
        <p:spPr>
          <a:xfrm>
            <a:off x="4169663" y="3063240"/>
            <a:ext cx="7406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文件如何变成字符串与文本块</a:t>
            </a:r>
            <a:endParaRPr/>
          </a:p>
        </p:txBody>
      </p:sp>
      <p:sp>
        <p:nvSpPr>
          <p:cNvPr id="310" name="Rectangle 8"/>
          <p:cNvSpPr/>
          <p:nvPr/>
        </p:nvSpPr>
        <p:spPr>
          <a:xfrm>
            <a:off x="3886200" y="3840480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11" name="TextBox 9"/>
          <p:cNvSpPr txBox="1"/>
          <p:nvPr/>
        </p:nvSpPr>
        <p:spPr>
          <a:xfrm>
            <a:off x="4169663" y="3721608"/>
            <a:ext cx="7406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本体如何被模型设计出来</a:t>
            </a:r>
            <a:endParaRPr/>
          </a:p>
        </p:txBody>
      </p:sp>
      <p:sp>
        <p:nvSpPr>
          <p:cNvPr id="312" name="Rectangle 10"/>
          <p:cNvSpPr/>
          <p:nvPr/>
        </p:nvSpPr>
        <p:spPr>
          <a:xfrm>
            <a:off x="3886200" y="4498848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13" name="TextBox 11"/>
          <p:cNvSpPr txBox="1"/>
          <p:nvPr/>
        </p:nvSpPr>
        <p:spPr>
          <a:xfrm>
            <a:off x="4169663" y="4379976"/>
            <a:ext cx="7406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代码在模型返回后又改了什么</a:t>
            </a:r>
            <a:endParaRPr/>
          </a:p>
        </p:txBody>
      </p:sp>
      <p:sp>
        <p:nvSpPr>
          <p:cNvPr id="314" name="TextBox 12"/>
          <p:cNvSpPr txBox="1"/>
          <p:nvPr/>
        </p:nvSpPr>
        <p:spPr>
          <a:xfrm>
            <a:off x="3886200" y="603504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>
                <a:solidFill>
                  <a:srgbClr val="8B97A8"/>
                </a:solidFill>
                <a:latin typeface="Microsoft YaHei"/>
                <a:ea typeface="Microsoft YaHei"/>
              </a:rPr>
              <a:t>第 6 页 / 共 21 页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3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30" tIns="0" rIns="0" bIns="0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阶段 0：文件如何变成文本块</a:t>
            </a:r>
            <a:endParaRPr/>
          </a:p>
        </p:txBody>
      </p:sp>
      <p:sp>
        <p:nvSpPr>
          <p:cNvPr id="317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file_parser.py 与 text_processor.py，全程无模型参与</a:t>
            </a:r>
            <a:endParaRPr/>
          </a:p>
        </p:txBody>
      </p:sp>
      <p:sp>
        <p:nvSpPr>
          <p:cNvPr id="318" name="Rounded Rectangle 3"/>
          <p:cNvSpPr/>
          <p:nvPr/>
        </p:nvSpPr>
        <p:spPr>
          <a:xfrm>
            <a:off x="381030" y="1188720"/>
            <a:ext cx="3566160" cy="22860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19" name="Rectangle 4"/>
          <p:cNvSpPr/>
          <p:nvPr/>
        </p:nvSpPr>
        <p:spPr>
          <a:xfrm>
            <a:off x="381030" y="1188720"/>
            <a:ext cx="3566160" cy="384048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0" name="TextBox 5"/>
          <p:cNvSpPr txBox="1"/>
          <p:nvPr/>
        </p:nvSpPr>
        <p:spPr>
          <a:xfrm>
            <a:off x="381030" y="1188720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输入：三种文件格式</a:t>
            </a:r>
            <a:endParaRPr/>
          </a:p>
        </p:txBody>
      </p:sp>
      <p:sp>
        <p:nvSpPr>
          <p:cNvPr id="321" name="TextBox 6"/>
          <p:cNvSpPr txBox="1"/>
          <p:nvPr/>
        </p:nvSpPr>
        <p:spPr>
          <a:xfrm>
            <a:off x="582198" y="1700784"/>
            <a:ext cx="3163824" cy="1755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支持 pdf / md / markdown / txt，</a:t>
            </a:r>
            <a:endParaRPr/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编码走 UTF-8 → charset-normalizer</a:t>
            </a:r>
            <a:endParaRPr/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→ chardet 的三级回退。</a:t>
            </a:r>
            <a:endParaRPr/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</a:rPr>
              <a:t>多文件合并时，每篇前面会插入：</a:t>
            </a:r>
            <a:endParaRPr/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00" b="0" i="0">
                <a:solidFill>
                  <a:srgbClr val="D9534F"/>
                </a:solidFill>
                <a:latin typeface="Consolas"/>
                <a:ea typeface="Consolas"/>
              </a:rPr>
              <a:t>=== 文档 N: 文件名 ===</a:t>
            </a:r>
            <a:endParaRPr/>
          </a:p>
        </p:txBody>
      </p:sp>
      <p:sp>
        <p:nvSpPr>
          <p:cNvPr id="322" name="Rounded Rectangle 7"/>
          <p:cNvSpPr/>
          <p:nvPr/>
        </p:nvSpPr>
        <p:spPr>
          <a:xfrm>
            <a:off x="4206240" y="1188720"/>
            <a:ext cx="3383280" cy="22860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3" name="Rectangle 8"/>
          <p:cNvSpPr/>
          <p:nvPr/>
        </p:nvSpPr>
        <p:spPr>
          <a:xfrm>
            <a:off x="4206240" y="1188720"/>
            <a:ext cx="3383280" cy="384048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4" name="TextBox 9"/>
          <p:cNvSpPr txBox="1"/>
          <p:nvPr/>
        </p:nvSpPr>
        <p:spPr>
          <a:xfrm>
            <a:off x="4206240" y="1188720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处理：按字符切块</a:t>
            </a:r>
            <a:endParaRPr/>
          </a:p>
        </p:txBody>
      </p:sp>
      <p:sp>
        <p:nvSpPr>
          <p:cNvPr id="325" name="TextBox 10"/>
          <p:cNvSpPr txBox="1"/>
          <p:nvPr/>
        </p:nvSpPr>
        <p:spPr>
          <a:xfrm>
            <a:off x="4407408" y="1700784"/>
            <a:ext cx="2980944" cy="1755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0E3F8C"/>
                </a:solidFill>
                <a:latin typeface="Consolas"/>
                <a:ea typeface="Consolas"/>
              </a:rPr>
              <a:t>split_text_into_chunks(</a:t>
            </a:r>
            <a:endParaRPr/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0E3F8C"/>
                </a:solidFill>
                <a:latin typeface="Consolas"/>
                <a:ea typeface="Consolas"/>
              </a:rPr>
              <a:t>    500, 50)</a:t>
            </a:r>
            <a:endParaRPr/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每块 500 字符，重叠 50。</a:t>
            </a:r>
            <a:endParaRPr/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切点优先找句号 / 换行等边界，</a:t>
            </a:r>
            <a:endParaRPr/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 b="1" i="0">
                <a:solidFill>
                  <a:srgbClr val="1A2230"/>
                </a:solidFill>
                <a:latin typeface="Microsoft YaHei"/>
                <a:ea typeface="Microsoft YaHei"/>
              </a:rPr>
              <a:t>但本质是字符窗口，不是语义单元。</a:t>
            </a:r>
            <a:endParaRPr/>
          </a:p>
        </p:txBody>
      </p:sp>
      <p:sp>
        <p:nvSpPr>
          <p:cNvPr id="326" name="Rounded Rectangle 11"/>
          <p:cNvSpPr/>
          <p:nvPr/>
        </p:nvSpPr>
        <p:spPr>
          <a:xfrm>
            <a:off x="7863840" y="1188720"/>
            <a:ext cx="3931920" cy="22860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7" name="Rectangle 12"/>
          <p:cNvSpPr/>
          <p:nvPr/>
        </p:nvSpPr>
        <p:spPr>
          <a:xfrm>
            <a:off x="7863840" y="1188720"/>
            <a:ext cx="3931920" cy="384048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8" name="TextBox 13"/>
          <p:cNvSpPr txBox="1"/>
          <p:nvPr/>
        </p:nvSpPr>
        <p:spPr>
          <a:xfrm>
            <a:off x="7863840" y="1188720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输出：List[str]</a:t>
            </a:r>
            <a:endParaRPr/>
          </a:p>
        </p:txBody>
      </p:sp>
      <p:sp>
        <p:nvSpPr>
          <p:cNvPr id="329" name="TextBox 14"/>
          <p:cNvSpPr txBox="1"/>
          <p:nvPr/>
        </p:nvSpPr>
        <p:spPr>
          <a:xfrm>
            <a:off x="8065008" y="1700784"/>
            <a:ext cx="3529584" cy="1755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写入 Zep 时每块成为一个 episode，</a:t>
            </a:r>
            <a:endParaRPr/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元数据只有块序号与哈希。</a:t>
            </a:r>
            <a:endParaRPr/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 b="1" i="0">
                <a:solidFill>
                  <a:srgbClr val="D9534F"/>
                </a:solidFill>
                <a:latin typeface="Microsoft YaHei"/>
                <a:ea typeface="Microsoft YaHei"/>
              </a:rPr>
              <a:t>来源、发布时间、传播量</a:t>
            </a:r>
            <a:endParaRPr/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50" b="1" i="0">
                <a:solidFill>
                  <a:srgbClr val="D9534F"/>
                </a:solidFill>
                <a:latin typeface="Microsoft YaHei"/>
                <a:ea typeface="Microsoft YaHei"/>
              </a:rPr>
              <a:t>在这一步就已经丢失。</a:t>
            </a:r>
            <a:endParaRPr/>
          </a:p>
        </p:txBody>
      </p:sp>
      <p:sp>
        <p:nvSpPr>
          <p:cNvPr id="330" name="Rounded Rectangle 15"/>
          <p:cNvSpPr/>
          <p:nvPr/>
        </p:nvSpPr>
        <p:spPr>
          <a:xfrm>
            <a:off x="381030" y="3703320"/>
            <a:ext cx="11430000" cy="960120"/>
          </a:xfrm>
          <a:prstGeom prst="roundRect">
            <a:avLst>
              <a:gd name="adj" fmla="val 3000"/>
            </a:avLst>
          </a:prstGeom>
          <a:solidFill>
            <a:srgbClr val="E8EFF8"/>
          </a:solidFill>
          <a:ln w="12700">
            <a:solidFill>
              <a:srgbClr val="3D7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1" name="TextBox 16"/>
          <p:cNvSpPr txBox="1"/>
          <p:nvPr/>
        </p:nvSpPr>
        <p:spPr>
          <a:xfrm>
            <a:off x="609630" y="3703320"/>
            <a:ext cx="109728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1" i="0">
                <a:solidFill>
                  <a:srgbClr val="0E3F8C"/>
                </a:solidFill>
                <a:latin typeface="Microsoft YaHei"/>
                <a:ea typeface="Microsoft YaHei"/>
              </a:rPr>
              <a:t>机械切块的后果：一条微博和一篇新闻可能被切进同一块；长文切到第 3 块之后，来源头信息全部消失。</a:t>
            </a:r>
            <a:endParaRPr/>
          </a:p>
        </p:txBody>
      </p:sp>
      <p:sp>
        <p:nvSpPr>
          <p:cNvPr id="332" name="Rounded Rectangle 17"/>
          <p:cNvSpPr/>
          <p:nvPr/>
        </p:nvSpPr>
        <p:spPr>
          <a:xfrm>
            <a:off x="381030" y="4828032"/>
            <a:ext cx="11430000" cy="1280160"/>
          </a:xfrm>
          <a:prstGeom prst="roundRect">
            <a:avLst>
              <a:gd name="adj" fmla="val 3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3" name="TextBox 18"/>
          <p:cNvSpPr txBox="1"/>
          <p:nvPr/>
        </p:nvSpPr>
        <p:spPr>
          <a:xfrm>
            <a:off x="637062" y="4956048"/>
            <a:ext cx="10917936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900" b="1" i="0">
                <a:solidFill>
                  <a:srgbClr val="FFC107"/>
                </a:solidFill>
                <a:latin typeface="Microsoft YaHei"/>
                <a:ea typeface="Microsoft YaHei"/>
              </a:rPr>
              <a:t>所以最小单元应该是「一条证据」，不是字符窗口。</a:t>
            </a:r>
            <a:endParaRPr/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</a:rPr>
              <a:t>改进方向：让每个文本块自带来源、时间与传播量的头部，并按证据边界切，而不是按字符数切。</a:t>
            </a:r>
            <a:endParaRPr/>
          </a:p>
        </p:txBody>
      </p:sp>
      <p:sp>
        <p:nvSpPr>
          <p:cNvPr id="334" name="Rectangle 19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5" name="TextBox 20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  <a:endParaRPr/>
          </a:p>
        </p:txBody>
      </p:sp>
      <p:sp>
        <p:nvSpPr>
          <p:cNvPr id="336" name="TextBox 21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7 / 21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3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30" tIns="0" rIns="0" bIns="0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阶段 ①：本体生成——让模型设计类型</a:t>
            </a:r>
            <a:endParaRPr/>
          </a:p>
        </p:txBody>
      </p:sp>
      <p:sp>
        <p:nvSpPr>
          <p:cNvPr id="339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ontology_generator.py，全系统唯一的领域自适应机制</a:t>
            </a:r>
            <a:endParaRPr/>
          </a:p>
        </p:txBody>
      </p:sp>
      <p:sp>
        <p:nvSpPr>
          <p:cNvPr id="340" name="Rounded Rectangle 3"/>
          <p:cNvSpPr/>
          <p:nvPr/>
        </p:nvSpPr>
        <p:spPr>
          <a:xfrm>
            <a:off x="381030" y="1188720"/>
            <a:ext cx="5029200" cy="484632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1" name="Rectangle 4"/>
          <p:cNvSpPr/>
          <p:nvPr/>
        </p:nvSpPr>
        <p:spPr>
          <a:xfrm>
            <a:off x="381030" y="1188720"/>
            <a:ext cx="5029200" cy="402336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2" name="TextBox 5"/>
          <p:cNvSpPr txBox="1"/>
          <p:nvPr/>
        </p:nvSpPr>
        <p:spPr>
          <a:xfrm>
            <a:off x="381030" y="1188720"/>
            <a:ext cx="50292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输入：提示词里写死的硬约束</a:t>
            </a:r>
            <a:endParaRPr/>
          </a:p>
        </p:txBody>
      </p:sp>
      <p:sp>
        <p:nvSpPr>
          <p:cNvPr id="343" name="TextBox 6"/>
          <p:cNvSpPr txBox="1"/>
          <p:nvPr/>
        </p:nvSpPr>
        <p:spPr>
          <a:xfrm>
            <a:off x="600486" y="1737360"/>
            <a:ext cx="4590288" cy="42245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1" i="0">
                <a:solidFill>
                  <a:srgbClr val="0E3F8C"/>
                </a:solidFill>
                <a:latin typeface="Microsoft YaHei"/>
                <a:ea typeface="Microsoft YaHei"/>
              </a:rPr>
              <a:t>必须正好 10 个实体类型</a:t>
            </a:r>
            <a:endParaRPr/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最后 2 个必须是 Person 与 Organization 兜底</a:t>
            </a:r>
            <a:endParaRPr/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实体必须能在社媒发声（明文禁止抽象概念、话题、观点）</a:t>
            </a:r>
            <a:endParaRPr/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边类型 6–10 个，需声明 source / target</a:t>
            </a:r>
            <a:endParaRPr/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类型名用英文 PascalCase，边名用 UPPER_SNAKE</a:t>
            </a:r>
            <a:endParaRPr/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属性名不能撞保留字（name / uuid / created_at）</a:t>
            </a:r>
            <a:endParaRPr/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每类附 1–3 个属性与若干示例实体</a:t>
            </a:r>
            <a:endParaRPr/>
          </a:p>
          <a:p>
            <a:pPr algn="l">
              <a:lnSpc>
                <a:spcPct val="130000"/>
              </a:lnSpc>
              <a:spcAft>
                <a:spcPts val="700"/>
              </a:spcAft>
            </a:pPr>
            <a:endParaRPr/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1" i="0">
                <a:solidFill>
                  <a:srgbClr val="1E4FA8"/>
                </a:solidFill>
                <a:latin typeface="Microsoft YaHei"/>
                <a:ea typeface="Microsoft YaHei"/>
              </a:rPr>
              <a:t>另外注入两份内容：模拟需求 + 文档正文。</a:t>
            </a:r>
            <a:endParaRPr/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0" i="0">
                <a:solidFill>
                  <a:srgbClr val="4A5568"/>
                </a:solidFill>
                <a:latin typeface="Microsoft YaHei"/>
                <a:ea typeface="Microsoft YaHei"/>
              </a:rPr>
              <a:t>正文超过 5 万字会等距抽样，最多 60 块。</a:t>
            </a:r>
            <a:endParaRPr/>
          </a:p>
        </p:txBody>
      </p:sp>
      <p:sp>
        <p:nvSpPr>
          <p:cNvPr id="344" name="Rounded Rectangle 7"/>
          <p:cNvSpPr/>
          <p:nvPr/>
        </p:nvSpPr>
        <p:spPr>
          <a:xfrm>
            <a:off x="5623560" y="1188720"/>
            <a:ext cx="61722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5" name="Rectangle 8"/>
          <p:cNvSpPr/>
          <p:nvPr/>
        </p:nvSpPr>
        <p:spPr>
          <a:xfrm>
            <a:off x="5623560" y="1188720"/>
            <a:ext cx="6172200" cy="402336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6" name="TextBox 9"/>
          <p:cNvSpPr txBox="1"/>
          <p:nvPr/>
        </p:nvSpPr>
        <p:spPr>
          <a:xfrm>
            <a:off x="5623560" y="1188720"/>
            <a:ext cx="61722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输出：模型返回的本体（节选）</a:t>
            </a:r>
            <a:endParaRPr/>
          </a:p>
        </p:txBody>
      </p:sp>
      <p:sp>
        <p:nvSpPr>
          <p:cNvPr id="347" name="TextBox 10"/>
          <p:cNvSpPr txBox="1"/>
          <p:nvPr/>
        </p:nvSpPr>
        <p:spPr>
          <a:xfrm>
            <a:off x="5806440" y="1755648"/>
            <a:ext cx="580644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{</a:t>
            </a:r>
            <a:endParaRPr/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"entity_types": [</a:t>
            </a:r>
            <a:endParaRPr/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{ "name": "Celebrity",</a:t>
            </a:r>
            <a:endParaRPr/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  "description": "Public figure ...",</a:t>
            </a:r>
            <a:endParaRPr/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  "attributes": [{"name":"full_name"}],</a:t>
            </a:r>
            <a:endParaRPr/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  "examples": ["罗永浩"] },</a:t>
            </a:r>
            <a:endParaRPr/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{ "name": "Company", ... },</a:t>
            </a:r>
            <a:endParaRPr/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{ "name": "MediaOutlet", ... },</a:t>
            </a:r>
            <a:endParaRPr/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...</a:t>
            </a:r>
            <a:endParaRPr/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{ "name": "Person", ... },        // 兜底</a:t>
            </a:r>
            <a:endParaRPr/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{ "name": "Organization", ... }   // 兜底</a:t>
            </a:r>
            <a:endParaRPr/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],</a:t>
            </a:r>
            <a:endParaRPr/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"edge_types": [</a:t>
            </a:r>
            <a:endParaRPr/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{ "name": "CRITICIZES",</a:t>
            </a:r>
            <a:endParaRPr/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  "source_targets": [</a:t>
            </a:r>
            <a:endParaRPr/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    {"source":"Celebrity","target":"Company"} ] }</a:t>
            </a:r>
            <a:endParaRPr/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],</a:t>
            </a:r>
            <a:endParaRPr/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"analysis_summary": "..."</a:t>
            </a:r>
            <a:endParaRPr/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}</a:t>
            </a:r>
            <a:endParaRPr/>
          </a:p>
        </p:txBody>
      </p:sp>
      <p:sp>
        <p:nvSpPr>
          <p:cNvPr id="348" name="Rectangle 11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9" name="TextBox 12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  <a:endParaRPr/>
          </a:p>
        </p:txBody>
      </p:sp>
      <p:sp>
        <p:nvSpPr>
          <p:cNvPr id="350" name="TextBox 13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8 / 21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3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30" tIns="0" rIns="0" bIns="0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阶段 ①之后：代码强制校验发生了什么</a:t>
            </a:r>
            <a:endParaRPr/>
          </a:p>
        </p:txBody>
      </p:sp>
      <p:sp>
        <p:nvSpPr>
          <p:cNvPr id="353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_validate_and_process，提示词之外的一道保险</a:t>
            </a:r>
            <a:endParaRPr/>
          </a:p>
        </p:txBody>
      </p:sp>
      <p:sp>
        <p:nvSpPr>
          <p:cNvPr id="354" name="Rounded Rectangle 3"/>
          <p:cNvSpPr/>
          <p:nvPr/>
        </p:nvSpPr>
        <p:spPr>
          <a:xfrm>
            <a:off x="381030" y="1188720"/>
            <a:ext cx="3639312" cy="260604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5" name="Rectangle 4"/>
          <p:cNvSpPr/>
          <p:nvPr/>
        </p:nvSpPr>
        <p:spPr>
          <a:xfrm>
            <a:off x="381030" y="1188720"/>
            <a:ext cx="3639312" cy="42062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6" name="TextBox 5"/>
          <p:cNvSpPr txBox="1"/>
          <p:nvPr/>
        </p:nvSpPr>
        <p:spPr>
          <a:xfrm>
            <a:off x="381030" y="1188720"/>
            <a:ext cx="36393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10 个上限</a:t>
            </a:r>
            <a:endParaRPr/>
          </a:p>
        </p:txBody>
      </p:sp>
      <p:sp>
        <p:nvSpPr>
          <p:cNvPr id="357" name="TextBox 6"/>
          <p:cNvSpPr txBox="1"/>
          <p:nvPr/>
        </p:nvSpPr>
        <p:spPr>
          <a:xfrm>
            <a:off x="582198" y="1810512"/>
            <a:ext cx="3236976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超过就截断末尾，</a:t>
            </a:r>
            <a:endParaRPr/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保留前 8 个具体类型</a:t>
            </a:r>
            <a:endParaRPr/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再加两个兜底。</a:t>
            </a:r>
            <a:endParaRPr/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Zep 侧的硬顶，绕不过去。</a:t>
            </a:r>
            <a:endParaRPr/>
          </a:p>
        </p:txBody>
      </p:sp>
      <p:sp>
        <p:nvSpPr>
          <p:cNvPr id="358" name="Rounded Rectangle 7"/>
          <p:cNvSpPr/>
          <p:nvPr/>
        </p:nvSpPr>
        <p:spPr>
          <a:xfrm>
            <a:off x="4276374" y="1188720"/>
            <a:ext cx="3639312" cy="260604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9" name="Rectangle 8"/>
          <p:cNvSpPr/>
          <p:nvPr/>
        </p:nvSpPr>
        <p:spPr>
          <a:xfrm>
            <a:off x="4276374" y="1188720"/>
            <a:ext cx="3639312" cy="420624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0" name="TextBox 9"/>
          <p:cNvSpPr txBox="1"/>
          <p:nvPr/>
        </p:nvSpPr>
        <p:spPr>
          <a:xfrm>
            <a:off x="4276374" y="1188720"/>
            <a:ext cx="36393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自动补兜底</a:t>
            </a:r>
            <a:endParaRPr/>
          </a:p>
        </p:txBody>
      </p:sp>
      <p:sp>
        <p:nvSpPr>
          <p:cNvPr id="361" name="TextBox 10"/>
          <p:cNvSpPr txBox="1"/>
          <p:nvPr/>
        </p:nvSpPr>
        <p:spPr>
          <a:xfrm>
            <a:off x="4477542" y="1810512"/>
            <a:ext cx="3236976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模型没给 Person /</a:t>
            </a:r>
            <a:endParaRPr/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Organization 时，代码</a:t>
            </a:r>
            <a:endParaRPr/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直接补上；位置不够就</a:t>
            </a:r>
            <a:endParaRPr/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把末尾类型砍掉腾位。</a:t>
            </a:r>
            <a:endParaRPr/>
          </a:p>
        </p:txBody>
      </p:sp>
      <p:sp>
        <p:nvSpPr>
          <p:cNvPr id="362" name="Rounded Rectangle 11"/>
          <p:cNvSpPr/>
          <p:nvPr/>
        </p:nvSpPr>
        <p:spPr>
          <a:xfrm>
            <a:off x="8171718" y="1188720"/>
            <a:ext cx="3639312" cy="260604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3" name="Rectangle 12"/>
          <p:cNvSpPr/>
          <p:nvPr/>
        </p:nvSpPr>
        <p:spPr>
          <a:xfrm>
            <a:off x="8171718" y="1188720"/>
            <a:ext cx="3639312" cy="420624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4" name="TextBox 13"/>
          <p:cNvSpPr txBox="1"/>
          <p:nvPr/>
        </p:nvSpPr>
        <p:spPr>
          <a:xfrm>
            <a:off x="8171718" y="1188720"/>
            <a:ext cx="363931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中文名静默丢弃</a:t>
            </a:r>
            <a:endParaRPr/>
          </a:p>
        </p:txBody>
      </p:sp>
      <p:sp>
        <p:nvSpPr>
          <p:cNvPr id="365" name="TextBox 14"/>
          <p:cNvSpPr txBox="1"/>
          <p:nvPr/>
        </p:nvSpPr>
        <p:spPr>
          <a:xfrm>
            <a:off x="8372886" y="1810512"/>
            <a:ext cx="3236976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PascalCase 转换按</a:t>
            </a:r>
            <a:endParaRPr/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非字母数字分词，中文</a:t>
            </a:r>
            <a:endParaRPr/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被整个吃掉后返回</a:t>
            </a:r>
            <a:endParaRPr/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Unknown，直接跳过。</a:t>
            </a:r>
            <a:endParaRPr/>
          </a:p>
        </p:txBody>
      </p:sp>
      <p:sp>
        <p:nvSpPr>
          <p:cNvPr id="366" name="Rounded Rectangle 15"/>
          <p:cNvSpPr/>
          <p:nvPr/>
        </p:nvSpPr>
        <p:spPr>
          <a:xfrm>
            <a:off x="381030" y="3977639"/>
            <a:ext cx="11430000" cy="475488"/>
          </a:xfrm>
          <a:prstGeom prst="roundRect">
            <a:avLst>
              <a:gd name="adj" fmla="val 3000"/>
            </a:avLst>
          </a:prstGeom>
          <a:solidFill>
            <a:srgbClr val="E8EFF8"/>
          </a:solidFill>
          <a:ln w="12700">
            <a:solidFill>
              <a:srgbClr val="3D7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7" name="TextBox 16"/>
          <p:cNvSpPr txBox="1"/>
          <p:nvPr/>
        </p:nvSpPr>
        <p:spPr>
          <a:xfrm>
            <a:off x="582198" y="3977639"/>
            <a:ext cx="110276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0E3F8C"/>
                </a:solidFill>
                <a:latin typeface="Microsoft YaHei"/>
                <a:ea typeface="Microsoft YaHei"/>
              </a:rPr>
              <a:t>实测（本机运行）：输入 celebrity / criticizes / 罗永浩的粉丝</a:t>
            </a:r>
            <a:endParaRPr/>
          </a:p>
        </p:txBody>
      </p:sp>
      <p:sp>
        <p:nvSpPr>
          <p:cNvPr id="368" name="Rounded Rectangle 17"/>
          <p:cNvSpPr/>
          <p:nvPr/>
        </p:nvSpPr>
        <p:spPr>
          <a:xfrm>
            <a:off x="381030" y="4526280"/>
            <a:ext cx="11430000" cy="1783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9" name="TextBox 18"/>
          <p:cNvSpPr txBox="1"/>
          <p:nvPr/>
        </p:nvSpPr>
        <p:spPr>
          <a:xfrm>
            <a:off x="600486" y="4617720"/>
            <a:ext cx="10991088" cy="1627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A2230"/>
                </a:solidFill>
                <a:latin typeface="Consolas"/>
                <a:ea typeface="Consolas"/>
              </a:rPr>
              <a:t>输入：{'entity_types':[{'name':'celebrity'},{'name':'罗永浩的粉丝'}],</a:t>
            </a:r>
            <a:endParaRPr/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A2230"/>
                </a:solidFill>
                <a:latin typeface="Consolas"/>
                <a:ea typeface="Consolas"/>
              </a:rPr>
              <a:t>       'edge_types':[{'name':'criticizes', ...}]}</a:t>
            </a:r>
            <a:endParaRPr/>
          </a:p>
          <a:p>
            <a:pPr algn="l">
              <a:lnSpc>
                <a:spcPct val="115000"/>
              </a:lnSpc>
              <a:spcAft>
                <a:spcPts val="0"/>
              </a:spcAft>
            </a:pPr>
            <a:endParaRPr/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A2230"/>
                </a:solidFill>
                <a:latin typeface="Consolas"/>
                <a:ea typeface="Consolas"/>
              </a:rPr>
              <a:t>输出：entity_types = ['Celebrity', 'Person', 'Organization']</a:t>
            </a:r>
            <a:endParaRPr/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A2230"/>
                </a:solidFill>
                <a:latin typeface="Consolas"/>
                <a:ea typeface="Consolas"/>
              </a:rPr>
              <a:t>      edge_types  = ['CRITICIZES']</a:t>
            </a:r>
            <a:endParaRPr/>
          </a:p>
          <a:p>
            <a:pPr algn="l">
              <a:lnSpc>
                <a:spcPct val="115000"/>
              </a:lnSpc>
              <a:spcAft>
                <a:spcPts val="0"/>
              </a:spcAft>
            </a:pPr>
            <a:endParaRPr/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A2230"/>
                </a:solidFill>
                <a:latin typeface="Consolas"/>
                <a:ea typeface="Consolas"/>
              </a:rPr>
              <a:t>日志：Entity type name 'celebrity' auto-converted to 'Celebrity'</a:t>
            </a:r>
            <a:endParaRPr/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A2230"/>
                </a:solidFill>
                <a:latin typeface="Consolas"/>
                <a:ea typeface="Consolas"/>
              </a:rPr>
              <a:t>      → 中文类型名没有报错，只是消失了</a:t>
            </a:r>
            <a:endParaRPr/>
          </a:p>
        </p:txBody>
      </p:sp>
      <p:sp>
        <p:nvSpPr>
          <p:cNvPr id="370" name="Rectangle 19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1" name="TextBox 20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  <a:endParaRPr/>
          </a:p>
        </p:txBody>
      </p:sp>
      <p:sp>
        <p:nvSpPr>
          <p:cNvPr id="372" name="TextBox 21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9 / 21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ectangle 3"/>
          <p:cNvSpPr/>
          <p:nvPr/>
        </p:nvSpPr>
        <p:spPr>
          <a:xfrm>
            <a:off x="3291840" y="0"/>
            <a:ext cx="54864" cy="685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4"/>
          <p:cNvSpPr txBox="1"/>
          <p:nvPr/>
        </p:nvSpPr>
        <p:spPr>
          <a:xfrm>
            <a:off x="502920" y="1828800"/>
            <a:ext cx="26517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200" b="1" i="0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5" name="TextBox 5"/>
          <p:cNvSpPr txBox="1"/>
          <p:nvPr/>
        </p:nvSpPr>
        <p:spPr>
          <a:xfrm>
            <a:off x="3886200" y="1965960"/>
            <a:ext cx="7680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800" b="1" i="0">
                <a:solidFill>
                  <a:srgbClr val="0E3F8C"/>
                </a:solidFill>
                <a:latin typeface="Microsoft YaHei"/>
                <a:ea typeface="Microsoft YaHei"/>
              </a:rPr>
              <a:t>文本到知识图谱</a:t>
            </a:r>
            <a:endParaRPr/>
          </a:p>
        </p:txBody>
      </p:sp>
      <p:sp>
        <p:nvSpPr>
          <p:cNvPr id="16" name="Rectangle 6"/>
          <p:cNvSpPr/>
          <p:nvPr/>
        </p:nvSpPr>
        <p:spPr>
          <a:xfrm>
            <a:off x="3886200" y="3182112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7"/>
          <p:cNvSpPr txBox="1"/>
          <p:nvPr/>
        </p:nvSpPr>
        <p:spPr>
          <a:xfrm>
            <a:off x="4169663" y="3063240"/>
            <a:ext cx="7406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JSON 本体如何变成 Zep 的类型约束</a:t>
            </a:r>
            <a:endParaRPr/>
          </a:p>
        </p:txBody>
      </p:sp>
      <p:sp>
        <p:nvSpPr>
          <p:cNvPr id="18" name="Rectangle 8"/>
          <p:cNvSpPr/>
          <p:nvPr/>
        </p:nvSpPr>
        <p:spPr>
          <a:xfrm>
            <a:off x="3886200" y="3840480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9"/>
          <p:cNvSpPr txBox="1"/>
          <p:nvPr/>
        </p:nvSpPr>
        <p:spPr>
          <a:xfrm>
            <a:off x="4169663" y="3721608"/>
            <a:ext cx="7406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实体抽取的黑盒里发生了什么</a:t>
            </a:r>
            <a:endParaRPr/>
          </a:p>
        </p:txBody>
      </p:sp>
      <p:sp>
        <p:nvSpPr>
          <p:cNvPr id="20" name="Rectangle 10"/>
          <p:cNvSpPr/>
          <p:nvPr/>
        </p:nvSpPr>
        <p:spPr>
          <a:xfrm>
            <a:off x="3886200" y="4498848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11"/>
          <p:cNvSpPr txBox="1"/>
          <p:nvPr/>
        </p:nvSpPr>
        <p:spPr>
          <a:xfrm>
            <a:off x="4169663" y="4379976"/>
            <a:ext cx="7406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读回时谁被留下、谁被丢弃</a:t>
            </a:r>
            <a:endParaRPr/>
          </a:p>
        </p:txBody>
      </p:sp>
      <p:sp>
        <p:nvSpPr>
          <p:cNvPr id="22" name="TextBox 12"/>
          <p:cNvSpPr txBox="1"/>
          <p:nvPr/>
        </p:nvSpPr>
        <p:spPr>
          <a:xfrm>
            <a:off x="3886200" y="603504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>
                <a:solidFill>
                  <a:srgbClr val="8B97A8"/>
                </a:solidFill>
                <a:latin typeface="Microsoft YaHei"/>
                <a:ea typeface="Microsoft YaHei"/>
              </a:rPr>
              <a:t>第 10 页 / 共 21 页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30" tIns="0" rIns="0" bIns="0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阶段 ②：装载本体——把 JSON 变成类</a:t>
            </a:r>
            <a:endParaRPr/>
          </a:p>
        </p:txBody>
      </p:sp>
      <p:sp>
        <p:nvSpPr>
          <p:cNvPr id="25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graph_builder.set_ontology，纯代码，无模型参与</a:t>
            </a:r>
            <a:endParaRPr/>
          </a:p>
        </p:txBody>
      </p:sp>
      <p:sp>
        <p:nvSpPr>
          <p:cNvPr id="26" name="Rounded Rectangle 3"/>
          <p:cNvSpPr/>
          <p:nvPr/>
        </p:nvSpPr>
        <p:spPr>
          <a:xfrm>
            <a:off x="381030" y="1188720"/>
            <a:ext cx="539496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Rectangle 4"/>
          <p:cNvSpPr/>
          <p:nvPr/>
        </p:nvSpPr>
        <p:spPr>
          <a:xfrm>
            <a:off x="381030" y="1188720"/>
            <a:ext cx="5394960" cy="402336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5"/>
          <p:cNvSpPr txBox="1"/>
          <p:nvPr/>
        </p:nvSpPr>
        <p:spPr>
          <a:xfrm>
            <a:off x="381030" y="1188720"/>
            <a:ext cx="53949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代码动态生成的 Pydantic 类</a:t>
            </a:r>
            <a:endParaRPr/>
          </a:p>
        </p:txBody>
      </p:sp>
      <p:sp>
        <p:nvSpPr>
          <p:cNvPr id="29" name="TextBox 6"/>
          <p:cNvSpPr txBox="1"/>
          <p:nvPr/>
        </p:nvSpPr>
        <p:spPr>
          <a:xfrm>
            <a:off x="600486" y="1755648"/>
            <a:ext cx="4956048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type("Celebrity", (EntityModel,), {</a:t>
            </a:r>
            <a:endParaRPr/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    "__annotations__": {</a:t>
            </a:r>
            <a:endParaRPr/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        "full_name": Optional[EntityText],</a:t>
            </a:r>
            <a:endParaRPr/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    },</a:t>
            </a:r>
            <a:endParaRPr/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    "full_name": Field(</a:t>
            </a:r>
            <a:endParaRPr/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        description="Real name",</a:t>
            </a:r>
            <a:endParaRPr/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        default=None</a:t>
            </a:r>
            <a:endParaRPr/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    )</a:t>
            </a:r>
            <a:endParaRPr/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})</a:t>
            </a:r>
            <a:endParaRPr/>
          </a:p>
          <a:p>
            <a:pPr algn="l">
              <a:lnSpc>
                <a:spcPct val="122000"/>
              </a:lnSpc>
              <a:spcAft>
                <a:spcPts val="0"/>
              </a:spcAft>
            </a:pPr>
            <a:endParaRPr/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client.graph.set_ontology(</a:t>
            </a:r>
            <a:endParaRPr/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    entities=entity_types,</a:t>
            </a:r>
            <a:endParaRPr/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    edges=edge_definitions</a:t>
            </a:r>
            <a:endParaRPr/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 i="0">
                <a:solidFill>
                  <a:srgbClr val="1A2230"/>
                </a:solidFill>
                <a:latin typeface="Consolas"/>
                <a:ea typeface="Consolas"/>
              </a:rPr>
              <a:t>)</a:t>
            </a:r>
            <a:endParaRPr/>
          </a:p>
        </p:txBody>
      </p:sp>
      <p:sp>
        <p:nvSpPr>
          <p:cNvPr id="30" name="Rounded Rectangle 7"/>
          <p:cNvSpPr/>
          <p:nvPr/>
        </p:nvSpPr>
        <p:spPr>
          <a:xfrm>
            <a:off x="5989320" y="1188720"/>
            <a:ext cx="5623560" cy="214884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1" name="Rectangle 8"/>
          <p:cNvSpPr/>
          <p:nvPr/>
        </p:nvSpPr>
        <p:spPr>
          <a:xfrm>
            <a:off x="5989320" y="1188720"/>
            <a:ext cx="5623560" cy="402336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9"/>
          <p:cNvSpPr txBox="1"/>
          <p:nvPr/>
        </p:nvSpPr>
        <p:spPr>
          <a:xfrm>
            <a:off x="5989320" y="1188720"/>
            <a:ext cx="56235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这一步在做什么</a:t>
            </a:r>
            <a:endParaRPr/>
          </a:p>
        </p:txBody>
      </p:sp>
      <p:sp>
        <p:nvSpPr>
          <p:cNvPr id="33" name="TextBox 10"/>
          <p:cNvSpPr txBox="1"/>
          <p:nvPr/>
        </p:nvSpPr>
        <p:spPr>
          <a:xfrm>
            <a:off x="6190488" y="1755648"/>
            <a:ext cx="5221224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把「类型定义」注册到 Zep 图谱上，成为后续抽取时的约束。</a:t>
            </a:r>
            <a:endParaRPr/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550" b="0" i="0">
                <a:solidFill>
                  <a:srgbClr val="1A2230"/>
                </a:solidFill>
                <a:latin typeface="Microsoft YaHei"/>
                <a:ea typeface="Microsoft YaHei"/>
              </a:rPr>
              <a:t>属性撞上保留字会被自动改名（如 name → entity_name）。</a:t>
            </a:r>
            <a:endParaRPr/>
          </a:p>
        </p:txBody>
      </p:sp>
      <p:sp>
        <p:nvSpPr>
          <p:cNvPr id="34" name="Rounded Rectangle 11"/>
          <p:cNvSpPr/>
          <p:nvPr/>
        </p:nvSpPr>
        <p:spPr>
          <a:xfrm>
            <a:off x="5989320" y="3456432"/>
            <a:ext cx="5623560" cy="2286000"/>
          </a:xfrm>
          <a:prstGeom prst="roundRect">
            <a:avLst>
              <a:gd name="adj" fmla="val 3000"/>
            </a:avLst>
          </a:prstGeom>
          <a:solidFill>
            <a:srgbClr val="E8EFF8"/>
          </a:solidFill>
          <a:ln w="12700">
            <a:solidFill>
              <a:srgbClr val="3D7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TextBox 12"/>
          <p:cNvSpPr txBox="1"/>
          <p:nvPr/>
        </p:nvSpPr>
        <p:spPr>
          <a:xfrm>
            <a:off x="6190488" y="3566160"/>
            <a:ext cx="5221224" cy="2139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700" b="1" i="0">
                <a:solidFill>
                  <a:srgbClr val="0E3F8C"/>
                </a:solidFill>
                <a:latin typeface="Microsoft YaHei"/>
                <a:ea typeface="Microsoft YaHei"/>
              </a:rPr>
              <a:t>为什么重要</a:t>
            </a:r>
            <a:endParaRPr/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这一步决定了 ③ 能抽出什么。</a:t>
            </a:r>
            <a:endParaRPr/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类型描述越清楚、示例给得越准，</a:t>
            </a:r>
            <a:endParaRPr/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Zep 抽取时的命中率越高。</a:t>
            </a:r>
            <a:endParaRPr/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示例里写「罗永浩」，就等于直接</a:t>
            </a:r>
            <a:endParaRPr/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50" b="1" i="0">
                <a:solidFill>
                  <a:srgbClr val="1E4FA8"/>
                </a:solidFill>
                <a:latin typeface="Microsoft YaHei"/>
                <a:ea typeface="Microsoft YaHei"/>
              </a:rPr>
              <a:t>给 Celebrity 类型打了个靶。</a:t>
            </a:r>
            <a:endParaRPr/>
          </a:p>
        </p:txBody>
      </p:sp>
      <p:sp>
        <p:nvSpPr>
          <p:cNvPr id="36" name="Rectangle 13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TextBox 14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  <a:endParaRPr/>
          </a:p>
        </p:txBody>
      </p:sp>
      <p:sp>
        <p:nvSpPr>
          <p:cNvPr id="38" name="TextBox 15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11 / 21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30" tIns="0" rIns="0" bIns="0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阶段 ③：实体抽取发生在 Zep 云端</a:t>
            </a:r>
            <a:endParaRPr/>
          </a:p>
        </p:txBody>
      </p:sp>
      <p:sp>
        <p:nvSpPr>
          <p:cNvPr id="41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这是唯一一处代码里没有提示词、也无法打断点的环节</a:t>
            </a:r>
            <a:endParaRPr/>
          </a:p>
        </p:txBody>
      </p:sp>
      <p:sp>
        <p:nvSpPr>
          <p:cNvPr id="42" name="Rounded Rectangle 3"/>
          <p:cNvSpPr/>
          <p:nvPr/>
        </p:nvSpPr>
        <p:spPr>
          <a:xfrm>
            <a:off x="381030" y="1188720"/>
            <a:ext cx="3429000" cy="278892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3" name="Rectangle 4"/>
          <p:cNvSpPr/>
          <p:nvPr/>
        </p:nvSpPr>
        <p:spPr>
          <a:xfrm>
            <a:off x="381030" y="1188720"/>
            <a:ext cx="3429000" cy="40233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TextBox 5"/>
          <p:cNvSpPr txBox="1"/>
          <p:nvPr/>
        </p:nvSpPr>
        <p:spPr>
          <a:xfrm>
            <a:off x="381030" y="1188720"/>
            <a:ext cx="34290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输入：文本块 + 类型约束</a:t>
            </a:r>
            <a:endParaRPr/>
          </a:p>
        </p:txBody>
      </p:sp>
      <p:sp>
        <p:nvSpPr>
          <p:cNvPr id="45" name="TextBox 6"/>
          <p:cNvSpPr txBox="1"/>
          <p:nvPr/>
        </p:nvSpPr>
        <p:spPr>
          <a:xfrm>
            <a:off x="563910" y="1719072"/>
            <a:ext cx="3063240" cy="2121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每个块 ≤ 10000 字符，</a:t>
            </a:r>
            <a:endParaRPr/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单批 ≤ 350 条，</a:t>
            </a:r>
            <a:endParaRPr/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总量 ≤ 50000 条。</a:t>
            </a:r>
            <a:endParaRPr/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/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1" i="0">
                <a:solidFill>
                  <a:srgbClr val="D9534F"/>
                </a:solidFill>
                <a:latin typeface="Microsoft YaHei"/>
                <a:ea typeface="Microsoft YaHei"/>
              </a:rPr>
              <a:t>你能看到的只有「发出去的文本」，</a:t>
            </a:r>
            <a:endParaRPr/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1" i="0">
                <a:solidFill>
                  <a:srgbClr val="D9534F"/>
                </a:solidFill>
                <a:latin typeface="Microsoft YaHei"/>
                <a:ea typeface="Microsoft YaHei"/>
              </a:rPr>
              <a:t>服务端怎么抽，是黑盒。</a:t>
            </a:r>
            <a:endParaRPr/>
          </a:p>
        </p:txBody>
      </p:sp>
      <p:sp>
        <p:nvSpPr>
          <p:cNvPr id="46" name="Rounded Rectangle 7"/>
          <p:cNvSpPr/>
          <p:nvPr/>
        </p:nvSpPr>
        <p:spPr>
          <a:xfrm>
            <a:off x="4069080" y="1188720"/>
            <a:ext cx="3017520" cy="2788920"/>
          </a:xfrm>
          <a:prstGeom prst="roundRect">
            <a:avLst>
              <a:gd name="adj" fmla="val 3000"/>
            </a:avLst>
          </a:prstGeom>
          <a:solidFill>
            <a:srgbClr val="0E3F8C"/>
          </a:solidFill>
          <a:ln w="12700">
            <a:solidFill>
              <a:srgbClr val="0E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7" name="TextBox 8"/>
          <p:cNvSpPr txBox="1"/>
          <p:nvPr/>
        </p:nvSpPr>
        <p:spPr>
          <a:xfrm>
            <a:off x="4069080" y="1188720"/>
            <a:ext cx="3017520" cy="2788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Zep Cloud</a:t>
            </a:r>
            <a:endParaRPr/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2000" b="1" i="0">
                <a:solidFill>
                  <a:srgbClr val="FFC107"/>
                </a:solidFill>
                <a:latin typeface="Microsoft YaHei"/>
                <a:ea typeface="Microsoft YaHei"/>
              </a:rPr>
              <a:t>服务端抽取</a:t>
            </a:r>
            <a:endParaRPr/>
          </a:p>
          <a:p>
            <a:pPr algn="l">
              <a:lnSpc>
                <a:spcPct val="125000"/>
              </a:lnSpc>
              <a:spcAft>
                <a:spcPts val="400"/>
              </a:spcAft>
            </a:pPr>
            <a:endParaRPr/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</a:rPr>
              <a:t>无提示词可改</a:t>
            </a:r>
            <a:endParaRPr/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</a:rPr>
              <a:t>无断点可打</a:t>
            </a:r>
            <a:endParaRPr/>
          </a:p>
        </p:txBody>
      </p:sp>
      <p:sp>
        <p:nvSpPr>
          <p:cNvPr id="48" name="Rounded Rectangle 9"/>
          <p:cNvSpPr/>
          <p:nvPr/>
        </p:nvSpPr>
        <p:spPr>
          <a:xfrm>
            <a:off x="7360920" y="1188720"/>
            <a:ext cx="4434840" cy="2788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9" name="Rectangle 10"/>
          <p:cNvSpPr/>
          <p:nvPr/>
        </p:nvSpPr>
        <p:spPr>
          <a:xfrm>
            <a:off x="7360920" y="1188720"/>
            <a:ext cx="4434840" cy="40233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0" name="TextBox 11"/>
          <p:cNvSpPr txBox="1"/>
          <p:nvPr/>
        </p:nvSpPr>
        <p:spPr>
          <a:xfrm>
            <a:off x="7360920" y="1188720"/>
            <a:ext cx="44348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输出：节点与边</a:t>
            </a:r>
            <a:endParaRPr/>
          </a:p>
        </p:txBody>
      </p:sp>
      <p:sp>
        <p:nvSpPr>
          <p:cNvPr id="51" name="TextBox 12"/>
          <p:cNvSpPr txBox="1"/>
          <p:nvPr/>
        </p:nvSpPr>
        <p:spPr>
          <a:xfrm>
            <a:off x="7543800" y="1719072"/>
            <a:ext cx="40690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Consolas"/>
                <a:ea typeface="Consolas"/>
              </a:rPr>
              <a:t>// 节点</a:t>
            </a:r>
            <a:endParaRPr/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Consolas"/>
                <a:ea typeface="Consolas"/>
              </a:rPr>
              <a:t>{ "name": "罗永浩",</a:t>
            </a:r>
            <a:endParaRPr/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Consolas"/>
                <a:ea typeface="Consolas"/>
              </a:rPr>
              <a:t>  "labels": ["Entity","Celebrity"],</a:t>
            </a:r>
            <a:endParaRPr/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Consolas"/>
                <a:ea typeface="Consolas"/>
              </a:rPr>
              <a:t>  "summary": "锤子科技创始人…",</a:t>
            </a:r>
            <a:endParaRPr/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Consolas"/>
                <a:ea typeface="Consolas"/>
              </a:rPr>
              <a:t>  "attributes": {"full_name":"罗永浩"} }</a:t>
            </a:r>
            <a:endParaRPr/>
          </a:p>
          <a:p>
            <a:pPr algn="l">
              <a:lnSpc>
                <a:spcPct val="112000"/>
              </a:lnSpc>
              <a:spcAft>
                <a:spcPts val="0"/>
              </a:spcAft>
            </a:pPr>
            <a:endParaRPr/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Consolas"/>
                <a:ea typeface="Consolas"/>
              </a:rPr>
              <a:t>// 边</a:t>
            </a:r>
            <a:endParaRPr/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Consolas"/>
                <a:ea typeface="Consolas"/>
              </a:rPr>
              <a:t>{ "name": "CRITICIZES",</a:t>
            </a:r>
            <a:endParaRPr/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Consolas"/>
                <a:ea typeface="Consolas"/>
              </a:rPr>
              <a:t>  "fact": "罗永浩质疑西贝…",</a:t>
            </a:r>
            <a:endParaRPr/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Consolas"/>
                <a:ea typeface="Consolas"/>
              </a:rPr>
              <a:t>  "source_node_name": "罗永浩",</a:t>
            </a:r>
            <a:endParaRPr/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A2230"/>
                </a:solidFill>
                <a:latin typeface="Consolas"/>
                <a:ea typeface="Consolas"/>
              </a:rPr>
              <a:t>  "target_node_name": "西贝" }</a:t>
            </a:r>
            <a:endParaRPr/>
          </a:p>
        </p:txBody>
      </p:sp>
      <p:sp>
        <p:nvSpPr>
          <p:cNvPr id="52" name="Rounded Rectangle 13"/>
          <p:cNvSpPr/>
          <p:nvPr/>
        </p:nvSpPr>
        <p:spPr>
          <a:xfrm>
            <a:off x="381030" y="4041648"/>
            <a:ext cx="11430000" cy="457200"/>
          </a:xfrm>
          <a:prstGeom prst="roundRect">
            <a:avLst>
              <a:gd name="adj" fmla="val 3000"/>
            </a:avLst>
          </a:prstGeom>
          <a:solidFill>
            <a:srgbClr val="E8EFF8"/>
          </a:solidFill>
          <a:ln w="12700">
            <a:solidFill>
              <a:srgbClr val="3D7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3" name="TextBox 14"/>
          <p:cNvSpPr txBox="1"/>
          <p:nvPr/>
        </p:nvSpPr>
        <p:spPr>
          <a:xfrm>
            <a:off x="582198" y="4041648"/>
            <a:ext cx="110276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0E3F8C"/>
                </a:solidFill>
                <a:latin typeface="Microsoft YaHei"/>
                <a:ea typeface="Microsoft YaHei"/>
              </a:rPr>
              <a:t>既然改不了提示词，能影响抽取质量的只有两个杠杆：</a:t>
            </a:r>
            <a:endParaRPr/>
          </a:p>
        </p:txBody>
      </p:sp>
      <p:sp>
        <p:nvSpPr>
          <p:cNvPr id="54" name="Rounded Rectangle 15"/>
          <p:cNvSpPr/>
          <p:nvPr/>
        </p:nvSpPr>
        <p:spPr>
          <a:xfrm>
            <a:off x="381030" y="4645152"/>
            <a:ext cx="5614416" cy="1298448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5" name="Rectangle 16"/>
          <p:cNvSpPr/>
          <p:nvPr/>
        </p:nvSpPr>
        <p:spPr>
          <a:xfrm>
            <a:off x="381030" y="4645152"/>
            <a:ext cx="73152" cy="1298448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6" name="TextBox 17"/>
          <p:cNvSpPr txBox="1"/>
          <p:nvPr/>
        </p:nvSpPr>
        <p:spPr>
          <a:xfrm>
            <a:off x="600486" y="4773168"/>
            <a:ext cx="51755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1" i="0">
                <a:solidFill>
                  <a:srgbClr val="0E3F8C"/>
                </a:solidFill>
                <a:latin typeface="Microsoft YaHei"/>
                <a:ea typeface="Microsoft YaHei"/>
              </a:rPr>
              <a:t>杠杆一：本体定义质量</a:t>
            </a:r>
            <a:endParaRPr/>
          </a:p>
        </p:txBody>
      </p:sp>
      <p:sp>
        <p:nvSpPr>
          <p:cNvPr id="57" name="TextBox 18"/>
          <p:cNvSpPr txBox="1"/>
          <p:nvPr/>
        </p:nvSpPr>
        <p:spPr>
          <a:xfrm>
            <a:off x="600486" y="5193792"/>
            <a:ext cx="517550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description 是否清楚、examples 是否命中、属性是否合理</a:t>
            </a:r>
            <a:endParaRPr/>
          </a:p>
        </p:txBody>
      </p:sp>
      <p:sp>
        <p:nvSpPr>
          <p:cNvPr id="58" name="Rounded Rectangle 19"/>
          <p:cNvSpPr/>
          <p:nvPr/>
        </p:nvSpPr>
        <p:spPr>
          <a:xfrm>
            <a:off x="6196614" y="4645152"/>
            <a:ext cx="5614416" cy="1298448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9" name="Rectangle 20"/>
          <p:cNvSpPr/>
          <p:nvPr/>
        </p:nvSpPr>
        <p:spPr>
          <a:xfrm>
            <a:off x="6196614" y="4645152"/>
            <a:ext cx="73152" cy="1298448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0" name="TextBox 21"/>
          <p:cNvSpPr txBox="1"/>
          <p:nvPr/>
        </p:nvSpPr>
        <p:spPr>
          <a:xfrm>
            <a:off x="6416070" y="4773168"/>
            <a:ext cx="51755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1" i="0">
                <a:solidFill>
                  <a:srgbClr val="0E3F8C"/>
                </a:solidFill>
                <a:latin typeface="Microsoft YaHei"/>
                <a:ea typeface="Microsoft YaHei"/>
              </a:rPr>
              <a:t>杠杆二：文本块质量</a:t>
            </a:r>
            <a:endParaRPr/>
          </a:p>
        </p:txBody>
      </p:sp>
      <p:sp>
        <p:nvSpPr>
          <p:cNvPr id="61" name="TextBox 22"/>
          <p:cNvSpPr txBox="1"/>
          <p:nvPr/>
        </p:nvSpPr>
        <p:spPr>
          <a:xfrm>
            <a:off x="6416070" y="5193792"/>
            <a:ext cx="517550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来源、时间、传播量是否写进了正文（唯一能影响黑盒的入口）</a:t>
            </a:r>
            <a:endParaRPr/>
          </a:p>
        </p:txBody>
      </p:sp>
      <p:sp>
        <p:nvSpPr>
          <p:cNvPr id="62" name="Rectangle 23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3" name="TextBox 24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  <a:endParaRPr/>
          </a:p>
        </p:txBody>
      </p:sp>
      <p:sp>
        <p:nvSpPr>
          <p:cNvPr id="64" name="TextBox 25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12 / 21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30" tIns="0" rIns="0" bIns="0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阶段 ④：读回与过滤——不是所有节点都能留下</a:t>
            </a:r>
            <a:endParaRPr/>
          </a:p>
        </p:txBody>
      </p:sp>
      <p:sp>
        <p:nvSpPr>
          <p:cNvPr id="67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zep_entity_reader.py，决定哪些实体能变成智能体</a:t>
            </a:r>
            <a:endParaRPr/>
          </a:p>
        </p:txBody>
      </p:sp>
      <p:sp>
        <p:nvSpPr>
          <p:cNvPr id="68" name="Rounded Rectangle 3"/>
          <p:cNvSpPr/>
          <p:nvPr/>
        </p:nvSpPr>
        <p:spPr>
          <a:xfrm>
            <a:off x="381030" y="1188720"/>
            <a:ext cx="5029200" cy="2834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9" name="Rectangle 4"/>
          <p:cNvSpPr/>
          <p:nvPr/>
        </p:nvSpPr>
        <p:spPr>
          <a:xfrm>
            <a:off x="381030" y="1188720"/>
            <a:ext cx="5029200" cy="402336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0" name="TextBox 5"/>
          <p:cNvSpPr txBox="1"/>
          <p:nvPr/>
        </p:nvSpPr>
        <p:spPr>
          <a:xfrm>
            <a:off x="381030" y="1188720"/>
            <a:ext cx="50292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数据结构：EntityNode</a:t>
            </a:r>
            <a:endParaRPr/>
          </a:p>
        </p:txBody>
      </p:sp>
      <p:sp>
        <p:nvSpPr>
          <p:cNvPr id="71" name="TextBox 6"/>
          <p:cNvSpPr txBox="1"/>
          <p:nvPr/>
        </p:nvSpPr>
        <p:spPr>
          <a:xfrm>
            <a:off x="600486" y="1755648"/>
            <a:ext cx="459028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@dataclass</a:t>
            </a:r>
            <a:endParaRPr/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class EntityNode:</a:t>
            </a:r>
            <a:endParaRPr/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  uuid: str</a:t>
            </a:r>
            <a:endParaRPr/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  name: str</a:t>
            </a:r>
            <a:endParaRPr/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  labels: List[str]</a:t>
            </a:r>
            <a:endParaRPr/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  summary: str</a:t>
            </a:r>
            <a:endParaRPr/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  attributes: Dict[str, Any]</a:t>
            </a:r>
            <a:endParaRPr/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  related_edges: List[Dict]   # 出/入边与 fact</a:t>
            </a:r>
            <a:endParaRPr/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  related_nodes: List[Dict]   # 关联实体摘要</a:t>
            </a:r>
            <a:endParaRPr/>
          </a:p>
        </p:txBody>
      </p:sp>
      <p:sp>
        <p:nvSpPr>
          <p:cNvPr id="72" name="Rounded Rectangle 7"/>
          <p:cNvSpPr/>
          <p:nvPr/>
        </p:nvSpPr>
        <p:spPr>
          <a:xfrm>
            <a:off x="5623560" y="1188720"/>
            <a:ext cx="6172200" cy="283464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3" name="Rectangle 8"/>
          <p:cNvSpPr/>
          <p:nvPr/>
        </p:nvSpPr>
        <p:spPr>
          <a:xfrm>
            <a:off x="5623560" y="1188720"/>
            <a:ext cx="6172200" cy="402336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4" name="TextBox 9"/>
          <p:cNvSpPr txBox="1"/>
          <p:nvPr/>
        </p:nvSpPr>
        <p:spPr>
          <a:xfrm>
            <a:off x="5623560" y="1188720"/>
            <a:ext cx="61722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过滤规则：只有 Entity / Node 标签 → 丢弃</a:t>
            </a:r>
            <a:endParaRPr/>
          </a:p>
        </p:txBody>
      </p:sp>
      <p:sp>
        <p:nvSpPr>
          <p:cNvPr id="75" name="TextBox 10"/>
          <p:cNvSpPr txBox="1"/>
          <p:nvPr/>
        </p:nvSpPr>
        <p:spPr>
          <a:xfrm>
            <a:off x="5824728" y="1737360"/>
            <a:ext cx="5769864" cy="2212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Zep 会为所有节点打上 Entity 标签；</a:t>
            </a:r>
            <a:endParaRPr/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只有被本体覆盖的节点才会多出一个具体标签。</a:t>
            </a:r>
            <a:endParaRPr/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/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 i="0">
                <a:solidFill>
                  <a:srgbClr val="D9534F"/>
                </a:solidFill>
                <a:latin typeface="Microsoft YaHei"/>
                <a:ea typeface="Microsoft YaHei"/>
              </a:rPr>
              <a:t>因此：本体没覆盖的实体，在这一步静默消失。</a:t>
            </a:r>
            <a:endParaRPr/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这不是 Zep 抽错了，是本体没给它一个位置。</a:t>
            </a:r>
            <a:endParaRPr/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/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1" i="0">
                <a:solidFill>
                  <a:srgbClr val="0E3F8C"/>
                </a:solidFill>
                <a:latin typeface="Microsoft YaHei"/>
                <a:ea typeface="Microsoft YaHei"/>
              </a:rPr>
              <a:t>排查「实体太少」时，先看这里，再看抽取。</a:t>
            </a:r>
            <a:endParaRPr/>
          </a:p>
        </p:txBody>
      </p:sp>
      <p:sp>
        <p:nvSpPr>
          <p:cNvPr id="76" name="Rounded Rectangle 11"/>
          <p:cNvSpPr/>
          <p:nvPr/>
        </p:nvSpPr>
        <p:spPr>
          <a:xfrm>
            <a:off x="381030" y="4224528"/>
            <a:ext cx="11430000" cy="1828800"/>
          </a:xfrm>
          <a:prstGeom prst="roundRect">
            <a:avLst>
              <a:gd name="adj" fmla="val 3000"/>
            </a:avLst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7" name="TextBox 12"/>
          <p:cNvSpPr txBox="1"/>
          <p:nvPr/>
        </p:nvSpPr>
        <p:spPr>
          <a:xfrm>
            <a:off x="637062" y="4370832"/>
            <a:ext cx="1091793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900" b="1" i="0">
                <a:solidFill>
                  <a:srgbClr val="FFC107"/>
                </a:solidFill>
                <a:latin typeface="Microsoft YaHei"/>
                <a:ea typeface="Microsoft YaHei"/>
              </a:rPr>
              <a:t>本体 10 个类型的硬顶，在这里变成实体多样性的天花板。</a:t>
            </a:r>
            <a:endParaRPr/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</a:rPr>
              <a:t>一个真实后果：如果本体里没有「消费者协会」这类组织，相关实体全部进不了图，</a:t>
            </a:r>
            <a:endParaRPr/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</a:rPr>
              <a:t>后续也就不会有人设、不会参与模拟——它在第一步就被提示词的「10 个」挤掉了。</a:t>
            </a:r>
            <a:endParaRPr/>
          </a:p>
        </p:txBody>
      </p:sp>
      <p:sp>
        <p:nvSpPr>
          <p:cNvPr id="78" name="Rectangle 13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9" name="TextBox 14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  <a:endParaRPr/>
          </a:p>
        </p:txBody>
      </p:sp>
      <p:sp>
        <p:nvSpPr>
          <p:cNvPr id="80" name="TextBox 15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13 / 21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4" name="Rectangle 3"/>
          <p:cNvSpPr/>
          <p:nvPr/>
        </p:nvSpPr>
        <p:spPr>
          <a:xfrm>
            <a:off x="3291840" y="0"/>
            <a:ext cx="54864" cy="685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5" name="TextBox 4"/>
          <p:cNvSpPr txBox="1"/>
          <p:nvPr/>
        </p:nvSpPr>
        <p:spPr>
          <a:xfrm>
            <a:off x="502920" y="1828800"/>
            <a:ext cx="26517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200" b="1" i="0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86" name="TextBox 5"/>
          <p:cNvSpPr txBox="1"/>
          <p:nvPr/>
        </p:nvSpPr>
        <p:spPr>
          <a:xfrm>
            <a:off x="3886200" y="1965960"/>
            <a:ext cx="7680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800" b="1" i="0">
                <a:solidFill>
                  <a:srgbClr val="0E3F8C"/>
                </a:solidFill>
                <a:latin typeface="Microsoft YaHei"/>
                <a:ea typeface="Microsoft YaHei"/>
              </a:rPr>
              <a:t>图谱到智能体</a:t>
            </a:r>
            <a:endParaRPr/>
          </a:p>
        </p:txBody>
      </p:sp>
      <p:sp>
        <p:nvSpPr>
          <p:cNvPr id="87" name="Rectangle 6"/>
          <p:cNvSpPr/>
          <p:nvPr/>
        </p:nvSpPr>
        <p:spPr>
          <a:xfrm>
            <a:off x="3886200" y="3182112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8" name="TextBox 7"/>
          <p:cNvSpPr txBox="1"/>
          <p:nvPr/>
        </p:nvSpPr>
        <p:spPr>
          <a:xfrm>
            <a:off x="4169663" y="3063240"/>
            <a:ext cx="7406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实体如何被写成人设</a:t>
            </a:r>
            <a:endParaRPr/>
          </a:p>
        </p:txBody>
      </p:sp>
      <p:sp>
        <p:nvSpPr>
          <p:cNvPr id="89" name="Rectangle 8"/>
          <p:cNvSpPr/>
          <p:nvPr/>
        </p:nvSpPr>
        <p:spPr>
          <a:xfrm>
            <a:off x="3886200" y="3840480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0" name="TextBox 9"/>
          <p:cNvSpPr txBox="1"/>
          <p:nvPr/>
        </p:nvSpPr>
        <p:spPr>
          <a:xfrm>
            <a:off x="4169663" y="3721608"/>
            <a:ext cx="7406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行为参数与事件如何被配置</a:t>
            </a:r>
            <a:endParaRPr/>
          </a:p>
        </p:txBody>
      </p:sp>
      <p:sp>
        <p:nvSpPr>
          <p:cNvPr id="91" name="Rectangle 10"/>
          <p:cNvSpPr/>
          <p:nvPr/>
        </p:nvSpPr>
        <p:spPr>
          <a:xfrm>
            <a:off x="3886200" y="4498848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2" name="TextBox 11"/>
          <p:cNvSpPr txBox="1"/>
          <p:nvPr/>
        </p:nvSpPr>
        <p:spPr>
          <a:xfrm>
            <a:off x="4169663" y="4379976"/>
            <a:ext cx="7406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哪些参数是模型猜出来的</a:t>
            </a:r>
            <a:endParaRPr/>
          </a:p>
        </p:txBody>
      </p:sp>
      <p:sp>
        <p:nvSpPr>
          <p:cNvPr id="93" name="TextBox 12"/>
          <p:cNvSpPr txBox="1"/>
          <p:nvPr/>
        </p:nvSpPr>
        <p:spPr>
          <a:xfrm>
            <a:off x="3886200" y="603504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>
                <a:solidFill>
                  <a:srgbClr val="8B97A8"/>
                </a:solidFill>
                <a:latin typeface="Microsoft YaHei"/>
                <a:ea typeface="Microsoft YaHei"/>
              </a:rPr>
              <a:t>第 14 页 / 共 21 页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30" tIns="0" rIns="0" bIns="0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阶段 ⑤：画像生成——把实体写成人</a:t>
            </a:r>
            <a:endParaRPr/>
          </a:p>
        </p:txBody>
      </p:sp>
      <p:sp>
        <p:nvSpPr>
          <p:cNvPr id="96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oasis_profile_generator.py，每个实体一次模型调用</a:t>
            </a:r>
            <a:endParaRPr/>
          </a:p>
        </p:txBody>
      </p:sp>
      <p:sp>
        <p:nvSpPr>
          <p:cNvPr id="97" name="Rounded Rectangle 3"/>
          <p:cNvSpPr/>
          <p:nvPr/>
        </p:nvSpPr>
        <p:spPr>
          <a:xfrm>
            <a:off x="381030" y="1188720"/>
            <a:ext cx="5029200" cy="484632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8" name="Rectangle 4"/>
          <p:cNvSpPr/>
          <p:nvPr/>
        </p:nvSpPr>
        <p:spPr>
          <a:xfrm>
            <a:off x="381030" y="1188720"/>
            <a:ext cx="5029200" cy="402336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9" name="TextBox 5"/>
          <p:cNvSpPr txBox="1"/>
          <p:nvPr/>
        </p:nvSpPr>
        <p:spPr>
          <a:xfrm>
            <a:off x="381030" y="1188720"/>
            <a:ext cx="50292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输入：四段拼起来的上下文</a:t>
            </a:r>
            <a:endParaRPr/>
          </a:p>
        </p:txBody>
      </p:sp>
      <p:sp>
        <p:nvSpPr>
          <p:cNvPr id="100" name="TextBox 6"/>
          <p:cNvSpPr txBox="1"/>
          <p:nvPr/>
        </p:nvSpPr>
        <p:spPr>
          <a:xfrm>
            <a:off x="600486" y="1755648"/>
            <a:ext cx="4590288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600" b="1" i="0">
                <a:solidFill>
                  <a:srgbClr val="0E3F8C"/>
                </a:solidFill>
                <a:latin typeface="Microsoft YaHei"/>
                <a:ea typeface="Microsoft YaHei"/>
              </a:rPr>
              <a:t>① 实体属性</a:t>
            </a:r>
            <a:endParaRPr/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450" b="0" i="0">
                <a:solidFill>
                  <a:srgbClr val="4A5568"/>
                </a:solidFill>
                <a:latin typeface="Microsoft YaHei"/>
                <a:ea typeface="Microsoft YaHei"/>
              </a:rPr>
              <a:t>   full_name、role 等</a:t>
            </a:r>
            <a:endParaRPr/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600" b="1" i="0">
                <a:solidFill>
                  <a:srgbClr val="0E3F8C"/>
                </a:solidFill>
                <a:latin typeface="Microsoft YaHei"/>
                <a:ea typeface="Microsoft YaHei"/>
              </a:rPr>
              <a:t>② 相关事实与关系（来自边的 fact）</a:t>
            </a:r>
            <a:endParaRPr/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450" b="0" i="0">
                <a:solidFill>
                  <a:srgbClr val="4A5568"/>
                </a:solidFill>
                <a:latin typeface="Microsoft YaHei"/>
                <a:ea typeface="Microsoft YaHei"/>
              </a:rPr>
              <a:t>   罗永浩质疑西贝使用预制菜…</a:t>
            </a:r>
            <a:endParaRPr/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600" b="1" i="0">
                <a:solidFill>
                  <a:srgbClr val="0E3F8C"/>
                </a:solidFill>
                <a:latin typeface="Microsoft YaHei"/>
                <a:ea typeface="Microsoft YaHei"/>
              </a:rPr>
              <a:t>③ 关联实体摘要</a:t>
            </a:r>
            <a:endParaRPr/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450" b="0" i="0">
                <a:solidFill>
                  <a:srgbClr val="4A5568"/>
                </a:solidFill>
                <a:latin typeface="Microsoft YaHei"/>
                <a:ea typeface="Microsoft YaHei"/>
              </a:rPr>
              <a:t>   西贝（Company）：连锁餐饮企业…</a:t>
            </a:r>
            <a:endParaRPr/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600" b="1" i="0">
                <a:solidFill>
                  <a:srgbClr val="0E3F8C"/>
                </a:solidFill>
                <a:latin typeface="Microsoft YaHei"/>
                <a:ea typeface="Microsoft YaHei"/>
              </a:rPr>
              <a:t>④ Zep 检索补充的事实</a:t>
            </a:r>
            <a:endParaRPr/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450" b="0" i="0">
                <a:solidFill>
                  <a:srgbClr val="4A5568"/>
                </a:solidFill>
                <a:latin typeface="Microsoft YaHei"/>
                <a:ea typeface="Microsoft YaHei"/>
              </a:rPr>
              <a:t>   图搜索 top 结果去重后并入</a:t>
            </a:r>
            <a:endParaRPr/>
          </a:p>
          <a:p>
            <a:pPr algn="l">
              <a:lnSpc>
                <a:spcPct val="128000"/>
              </a:lnSpc>
              <a:spcAft>
                <a:spcPts val="700"/>
              </a:spcAft>
            </a:pPr>
            <a:endParaRPr/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500" b="1" i="0">
                <a:solidFill>
                  <a:srgbClr val="D9534F"/>
                </a:solidFill>
                <a:latin typeface="Microsoft YaHei"/>
                <a:ea typeface="Microsoft YaHei"/>
              </a:rPr>
              <a:t>上下文整体截断到 3000 字符。</a:t>
            </a:r>
            <a:endParaRPr/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500" b="0" i="0">
                <a:solidFill>
                  <a:srgbClr val="1A2230"/>
                </a:solidFill>
                <a:latin typeface="Microsoft YaHei"/>
                <a:ea typeface="Microsoft YaHei"/>
              </a:rPr>
              <a:t>实体在图上边太少 → 上下文就薄 → 人设就空。</a:t>
            </a:r>
            <a:endParaRPr/>
          </a:p>
        </p:txBody>
      </p:sp>
      <p:sp>
        <p:nvSpPr>
          <p:cNvPr id="101" name="Rounded Rectangle 7"/>
          <p:cNvSpPr/>
          <p:nvPr/>
        </p:nvSpPr>
        <p:spPr>
          <a:xfrm>
            <a:off x="5623560" y="1188720"/>
            <a:ext cx="61722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2" name="Rectangle 8"/>
          <p:cNvSpPr/>
          <p:nvPr/>
        </p:nvSpPr>
        <p:spPr>
          <a:xfrm>
            <a:off x="5623560" y="1188720"/>
            <a:ext cx="6172200" cy="402336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3" name="TextBox 9"/>
          <p:cNvSpPr txBox="1"/>
          <p:nvPr/>
        </p:nvSpPr>
        <p:spPr>
          <a:xfrm>
            <a:off x="5623560" y="1188720"/>
            <a:ext cx="61722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输出：OasisAgentProfile</a:t>
            </a:r>
            <a:endParaRPr/>
          </a:p>
        </p:txBody>
      </p:sp>
      <p:sp>
        <p:nvSpPr>
          <p:cNvPr id="104" name="TextBox 10"/>
          <p:cNvSpPr txBox="1"/>
          <p:nvPr/>
        </p:nvSpPr>
        <p:spPr>
          <a:xfrm>
            <a:off x="5806440" y="1755648"/>
            <a:ext cx="580644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{</a:t>
            </a:r>
            <a:endParaRPr/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"bio": "锤子科技创始人，知名意见领袖…",</a:t>
            </a:r>
            <a:endParaRPr/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"persona": "（约 2000 字：基本信息 /</a:t>
            </a:r>
            <a:endParaRPr/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 人物背景 / 性格特征 / 社媒行为 /</a:t>
            </a:r>
            <a:endParaRPr/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 立场观点 / 个人记忆）",</a:t>
            </a:r>
            <a:endParaRPr/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"age": 53,</a:t>
            </a:r>
            <a:endParaRPr/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"gender": "male",</a:t>
            </a:r>
            <a:endParaRPr/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"mbti": "ENTP",</a:t>
            </a:r>
            <a:endParaRPr/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"country": "中国",</a:t>
            </a:r>
            <a:endParaRPr/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"profession": "创业者",</a:t>
            </a:r>
            <a:endParaRPr/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"interested_topics": ["餐饮","消费者权益"]</a:t>
            </a:r>
            <a:endParaRPr/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}</a:t>
            </a:r>
            <a:endParaRPr/>
          </a:p>
        </p:txBody>
      </p:sp>
      <p:sp>
        <p:nvSpPr>
          <p:cNvPr id="105" name="Rounded Rectangle 11"/>
          <p:cNvSpPr/>
          <p:nvPr/>
        </p:nvSpPr>
        <p:spPr>
          <a:xfrm>
            <a:off x="5806440" y="4315968"/>
            <a:ext cx="5806440" cy="1691640"/>
          </a:xfrm>
          <a:prstGeom prst="roundRect">
            <a:avLst>
              <a:gd name="adj" fmla="val 3000"/>
            </a:avLst>
          </a:prstGeom>
          <a:solidFill>
            <a:srgbClr val="E8EFF8"/>
          </a:solidFill>
          <a:ln w="12700">
            <a:solidFill>
              <a:srgbClr val="3D7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6" name="TextBox 12"/>
          <p:cNvSpPr txBox="1"/>
          <p:nvPr/>
        </p:nvSpPr>
        <p:spPr>
          <a:xfrm>
            <a:off x="5989320" y="4425696"/>
            <a:ext cx="5440680" cy="1517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b="0" i="0">
                <a:solidFill>
                  <a:srgbClr val="0E3F8C"/>
                </a:solidFill>
                <a:latin typeface="Microsoft YaHei"/>
                <a:ea typeface="Microsoft YaHei"/>
              </a:rPr>
              <a:t>提示词明确要求 persona 包含</a:t>
            </a: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b="0" i="0">
                <a:solidFill>
                  <a:srgbClr val="0E3F8C"/>
                </a:solidFill>
                <a:latin typeface="Microsoft YaHei"/>
                <a:ea typeface="Microsoft YaHei"/>
              </a:rPr>
              <a:t>「这个个体在事件中的已有动作与反应」，</a:t>
            </a: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b="1" i="0">
                <a:solidFill>
                  <a:srgbClr val="0E3F8C"/>
                </a:solidFill>
                <a:latin typeface="Microsoft YaHei"/>
                <a:ea typeface="Microsoft YaHei"/>
              </a:rPr>
              <a:t>让智能体带着真实历史进场。</a:t>
            </a: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 i="0">
                <a:solidFill>
                  <a:srgbClr val="D9534F"/>
                </a:solidFill>
                <a:latin typeface="Microsoft YaHei"/>
                <a:ea typeface="Microsoft YaHei"/>
              </a:rPr>
              <a:t>已知缺陷：follower_count 硬编码 150，</a:t>
            </a: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 i="0">
                <a:solidFill>
                  <a:srgbClr val="D9534F"/>
                </a:solidFill>
                <a:latin typeface="Microsoft YaHei"/>
                <a:ea typeface="Microsoft YaHei"/>
              </a:rPr>
              <a:t>影响力维度目前是假的。</a:t>
            </a:r>
            <a:endParaRPr/>
          </a:p>
        </p:txBody>
      </p:sp>
      <p:sp>
        <p:nvSpPr>
          <p:cNvPr id="107" name="Rectangle 13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08" name="TextBox 14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  <a:endParaRPr/>
          </a:p>
        </p:txBody>
      </p:sp>
      <p:sp>
        <p:nvSpPr>
          <p:cNvPr id="109" name="TextBox 15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15 / 21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30" tIns="0" rIns="0" bIns="0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阶段 ⑥：行为与事件配置</a:t>
            </a:r>
            <a:endParaRPr/>
          </a:p>
        </p:txBody>
      </p:sp>
      <p:sp>
        <p:nvSpPr>
          <p:cNvPr id="112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simulation_config_generator.py，把实体翻译成可执行的模拟参数</a:t>
            </a:r>
            <a:endParaRPr/>
          </a:p>
        </p:txBody>
      </p:sp>
      <p:sp>
        <p:nvSpPr>
          <p:cNvPr id="113" name="Rounded Rectangle 3"/>
          <p:cNvSpPr/>
          <p:nvPr/>
        </p:nvSpPr>
        <p:spPr>
          <a:xfrm>
            <a:off x="381030" y="1188720"/>
            <a:ext cx="5532120" cy="370332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4" name="Rectangle 4"/>
          <p:cNvSpPr/>
          <p:nvPr/>
        </p:nvSpPr>
        <p:spPr>
          <a:xfrm>
            <a:off x="381030" y="1188720"/>
            <a:ext cx="5532120" cy="402336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5" name="TextBox 5"/>
          <p:cNvSpPr txBox="1"/>
          <p:nvPr/>
        </p:nvSpPr>
        <p:spPr>
          <a:xfrm>
            <a:off x="381030" y="1188720"/>
            <a:ext cx="5532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行为配置：9 个字段</a:t>
            </a:r>
            <a:endParaRPr/>
          </a:p>
        </p:txBody>
      </p:sp>
      <p:sp>
        <p:nvSpPr>
          <p:cNvPr id="116" name="TextBox 6"/>
          <p:cNvSpPr txBox="1"/>
          <p:nvPr/>
        </p:nvSpPr>
        <p:spPr>
          <a:xfrm>
            <a:off x="600486" y="1755648"/>
            <a:ext cx="5093208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Consolas"/>
                <a:ea typeface="Consolas"/>
              </a:rPr>
              <a:t>activity_level 活跃度 0–1</a:t>
            </a:r>
            <a:endParaRPr/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Consolas"/>
                <a:ea typeface="Consolas"/>
              </a:rPr>
              <a:t>posts_per_hour 发帖频率</a:t>
            </a:r>
            <a:endParaRPr/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Consolas"/>
                <a:ea typeface="Consolas"/>
              </a:rPr>
              <a:t>comments_per_hour 评论频率</a:t>
            </a:r>
            <a:endParaRPr/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Consolas"/>
                <a:ea typeface="Consolas"/>
              </a:rPr>
              <a:t>active_hours 活跃时段</a:t>
            </a:r>
            <a:endParaRPr/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Consolas"/>
                <a:ea typeface="Consolas"/>
              </a:rPr>
              <a:t>response_delay_min / max 响应延迟</a:t>
            </a:r>
            <a:endParaRPr/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Consolas"/>
                <a:ea typeface="Consolas"/>
              </a:rPr>
              <a:t>sentiment_bias 情绪倾向 −1~1</a:t>
            </a:r>
            <a:endParaRPr/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Consolas"/>
                <a:ea typeface="Consolas"/>
              </a:rPr>
              <a:t>stance 立场（4 选 1 英文枚举）</a:t>
            </a:r>
            <a:endParaRPr/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Consolas"/>
                <a:ea typeface="Consolas"/>
              </a:rPr>
              <a:t>influence_weight 影响力权重</a:t>
            </a:r>
            <a:endParaRPr/>
          </a:p>
        </p:txBody>
      </p:sp>
      <p:sp>
        <p:nvSpPr>
          <p:cNvPr id="117" name="Rounded Rectangle 7"/>
          <p:cNvSpPr/>
          <p:nvPr/>
        </p:nvSpPr>
        <p:spPr>
          <a:xfrm>
            <a:off x="6263640" y="1188720"/>
            <a:ext cx="5532120" cy="3703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8" name="Rectangle 8"/>
          <p:cNvSpPr/>
          <p:nvPr/>
        </p:nvSpPr>
        <p:spPr>
          <a:xfrm>
            <a:off x="6263640" y="1188720"/>
            <a:ext cx="5532120" cy="402336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9" name="TextBox 9"/>
          <p:cNvSpPr txBox="1"/>
          <p:nvPr/>
        </p:nvSpPr>
        <p:spPr>
          <a:xfrm>
            <a:off x="6263640" y="1188720"/>
            <a:ext cx="5532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事件与时间配置</a:t>
            </a:r>
            <a:endParaRPr/>
          </a:p>
        </p:txBody>
      </p:sp>
      <p:sp>
        <p:nvSpPr>
          <p:cNvPr id="120" name="TextBox 10"/>
          <p:cNvSpPr txBox="1"/>
          <p:nvPr/>
        </p:nvSpPr>
        <p:spPr>
          <a:xfrm>
            <a:off x="6446520" y="1755648"/>
            <a:ext cx="5166360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EventConfig:</a:t>
            </a:r>
            <a:endParaRPr/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hot_topics: ["预制菜","定价","知情权"]</a:t>
            </a:r>
            <a:endParaRPr/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narrative_direction: "从个人质疑扩散…"</a:t>
            </a:r>
            <a:endParaRPr/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initial_posts: [</a:t>
            </a:r>
            <a:endParaRPr/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  { "content": "西贝的菜…",</a:t>
            </a:r>
            <a:endParaRPr/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    "poster_type": "Celebrity" }</a:t>
            </a:r>
            <a:endParaRPr/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]</a:t>
            </a:r>
            <a:endParaRPr/>
          </a:p>
          <a:p>
            <a:pPr algn="l">
              <a:lnSpc>
                <a:spcPct val="122000"/>
              </a:lnSpc>
              <a:spcAft>
                <a:spcPts val="0"/>
              </a:spcAft>
            </a:pPr>
            <a:endParaRPr/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TimeSimulationConfig:</a:t>
            </a:r>
            <a:endParaRPr/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total_simulation_hours: 72   # 模型拍的</a:t>
            </a:r>
            <a:endParaRPr/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peak_hours: [19,20,21,22]</a:t>
            </a:r>
            <a:endParaRPr/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1A2230"/>
                </a:solidFill>
                <a:latin typeface="Consolas"/>
                <a:ea typeface="Consolas"/>
              </a:rPr>
              <a:t>  off_peak_hours: [0..5]</a:t>
            </a:r>
            <a:endParaRPr/>
          </a:p>
        </p:txBody>
      </p:sp>
      <p:sp>
        <p:nvSpPr>
          <p:cNvPr id="121" name="Rounded Rectangle 11"/>
          <p:cNvSpPr/>
          <p:nvPr/>
        </p:nvSpPr>
        <p:spPr>
          <a:xfrm>
            <a:off x="381030" y="5074920"/>
            <a:ext cx="11430000" cy="987552"/>
          </a:xfrm>
          <a:prstGeom prst="roundRect">
            <a:avLst>
              <a:gd name="adj" fmla="val 3000"/>
            </a:avLst>
          </a:prstGeom>
          <a:solidFill>
            <a:srgbClr val="E8EFF8"/>
          </a:solidFill>
          <a:ln w="12700">
            <a:solidFill>
              <a:srgbClr val="3D7B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2" name="TextBox 12"/>
          <p:cNvSpPr txBox="1"/>
          <p:nvPr/>
        </p:nvSpPr>
        <p:spPr>
          <a:xfrm>
            <a:off x="609630" y="5074920"/>
            <a:ext cx="1097280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50" b="0" i="0">
                <a:solidFill>
                  <a:srgbClr val="0E3F8C"/>
                </a:solidFill>
                <a:latin typeface="Microsoft YaHei"/>
                <a:ea typeface="Microsoft YaHei"/>
              </a:rPr>
              <a:t>提示词里硬编码了一组经验规则：官方机构活跃度 0.1–0.3、媒体全天响应快、个人晚间活跃。</a:t>
            </a:r>
            <a:endParaRPr/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50" b="1" i="0">
                <a:solidFill>
                  <a:srgbClr val="D9534F"/>
                </a:solidFill>
                <a:latin typeface="Microsoft YaHei"/>
                <a:ea typeface="Microsoft YaHei"/>
              </a:rPr>
              <a:t>而 total_simulation_hours、hot_topics、initial_posts 完全靠模型从文档里猜——这是可优化点。</a:t>
            </a:r>
            <a:endParaRPr/>
          </a:p>
        </p:txBody>
      </p:sp>
      <p:sp>
        <p:nvSpPr>
          <p:cNvPr id="123" name="Rectangle 13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4" name="TextBox 14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  <a:endParaRPr/>
          </a:p>
        </p:txBody>
      </p:sp>
      <p:sp>
        <p:nvSpPr>
          <p:cNvPr id="125" name="TextBox 15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16 / 21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8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9" name="Rectangle 3"/>
          <p:cNvSpPr/>
          <p:nvPr/>
        </p:nvSpPr>
        <p:spPr>
          <a:xfrm>
            <a:off x="3291840" y="0"/>
            <a:ext cx="54864" cy="685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0" name="TextBox 4"/>
          <p:cNvSpPr txBox="1"/>
          <p:nvPr/>
        </p:nvSpPr>
        <p:spPr>
          <a:xfrm>
            <a:off x="502920" y="1828800"/>
            <a:ext cx="26517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200" b="1" i="0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31" name="TextBox 5"/>
          <p:cNvSpPr txBox="1"/>
          <p:nvPr/>
        </p:nvSpPr>
        <p:spPr>
          <a:xfrm>
            <a:off x="3886200" y="1965960"/>
            <a:ext cx="7680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800" b="1" i="0">
                <a:solidFill>
                  <a:srgbClr val="0E3F8C"/>
                </a:solidFill>
                <a:latin typeface="Microsoft YaHei"/>
                <a:ea typeface="Microsoft YaHei"/>
              </a:rPr>
              <a:t>变形复盘与附录</a:t>
            </a:r>
            <a:endParaRPr/>
          </a:p>
        </p:txBody>
      </p:sp>
      <p:sp>
        <p:nvSpPr>
          <p:cNvPr id="132" name="Rectangle 6"/>
          <p:cNvSpPr/>
          <p:nvPr/>
        </p:nvSpPr>
        <p:spPr>
          <a:xfrm>
            <a:off x="3886200" y="3182112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3" name="TextBox 7"/>
          <p:cNvSpPr txBox="1"/>
          <p:nvPr/>
        </p:nvSpPr>
        <p:spPr>
          <a:xfrm>
            <a:off x="4169663" y="3063240"/>
            <a:ext cx="7406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同一条素材的七次改写</a:t>
            </a:r>
            <a:endParaRPr/>
          </a:p>
        </p:txBody>
      </p:sp>
      <p:sp>
        <p:nvSpPr>
          <p:cNvPr id="134" name="Rectangle 8"/>
          <p:cNvSpPr/>
          <p:nvPr/>
        </p:nvSpPr>
        <p:spPr>
          <a:xfrm>
            <a:off x="3886200" y="3840480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5" name="TextBox 9"/>
          <p:cNvSpPr txBox="1"/>
          <p:nvPr/>
        </p:nvSpPr>
        <p:spPr>
          <a:xfrm>
            <a:off x="4169663" y="3721608"/>
            <a:ext cx="7406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信息在哪些步骤悄悄丢失</a:t>
            </a:r>
            <a:endParaRPr/>
          </a:p>
        </p:txBody>
      </p:sp>
      <p:sp>
        <p:nvSpPr>
          <p:cNvPr id="136" name="Rectangle 10"/>
          <p:cNvSpPr/>
          <p:nvPr/>
        </p:nvSpPr>
        <p:spPr>
          <a:xfrm>
            <a:off x="3886200" y="4498848"/>
            <a:ext cx="128016" cy="310896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7" name="TextBox 11"/>
          <p:cNvSpPr txBox="1"/>
          <p:nvPr/>
        </p:nvSpPr>
        <p:spPr>
          <a:xfrm>
            <a:off x="4169663" y="4379976"/>
            <a:ext cx="7406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  <a:ea typeface="Microsoft YaHei"/>
              </a:rPr>
              <a:t>断点清单与离线验证命令</a:t>
            </a:r>
            <a:endParaRPr/>
          </a:p>
        </p:txBody>
      </p:sp>
      <p:sp>
        <p:nvSpPr>
          <p:cNvPr id="138" name="TextBox 12"/>
          <p:cNvSpPr txBox="1"/>
          <p:nvPr/>
        </p:nvSpPr>
        <p:spPr>
          <a:xfrm>
            <a:off x="3886200" y="603504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>
                <a:solidFill>
                  <a:srgbClr val="8B97A8"/>
                </a:solidFill>
                <a:latin typeface="Microsoft YaHei"/>
                <a:ea typeface="Microsoft YaHei"/>
              </a:rPr>
              <a:t>第 17 页 / 共 21 页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16="http://schemas.microsoft.com/office/drawing/2014/main" xmlns:a="http://schemas.openxmlformats.org/drawingml/2006/main" xmlns:p="http://schemas.openxmlformats.org/presentationml/2006/main" xmlns:mc="http://schemas.openxmlformats.org/markup-compatibility/2006" mc:Ignorable="a16">
  <p:cSld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30" tIns="0" rIns="0" bIns="0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变形复盘：同一条素材的七次改写</a:t>
            </a:r>
            <a:endParaRPr/>
          </a:p>
        </p:txBody>
      </p:sp>
      <p:sp>
        <p:nvSpPr>
          <p:cNvPr id="141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以「罗永浩质疑西贝」为例，看信息如何被逐步结构化</a:t>
            </a:r>
            <a:endParaRPr/>
          </a:p>
        </p:txBody>
      </p:sp>
      <p:graphicFrame>
        <p:nvGraphicFramePr>
          <p:cNvPr id="142" name="Table 3"/>
          <p:cNvGraphicFramePr>
            <a:graphicFrameLocks noGrp="1"/>
          </p:cNvGraphicFramePr>
          <p:nvPr/>
        </p:nvGraphicFramePr>
        <p:xfrm>
          <a:off x="381030" y="1207008"/>
          <a:ext cx="114300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val="1"/>
                    </a:ext>
                  </a:extLst>
                </a:gridCol>
                <a:gridCol w="1554480">
                  <a:extLst>
                    <a:ext uri="{9D8B030D-6E8A-4147-A177-3AD203B41FA5}">
                      <a16:colId val="2"/>
                    </a:ext>
                  </a:extLst>
                </a:gridCol>
                <a:gridCol w="6583680">
                  <a:extLst>
                    <a:ext uri="{9D8B030D-6E8A-4147-A177-3AD203B41FA5}">
                      <a16:colId val="3"/>
                    </a:ext>
                  </a:extLst>
                </a:gridCol>
                <a:gridCol w="2743200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543560">
                <a:tc>
                  <a:txBody>
                    <a:bodyPr/>
                    <a:lstStyle/>
                    <a:p>
                      <a:pPr/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形态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内容示例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结构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/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原始文章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00" b="0" i="0">
                          <a:solidFill>
                            <a:srgbClr val="1A2230"/>
                          </a:solidFill>
                          <a:latin typeface="Consolas"/>
                          <a:ea typeface="Consolas"/>
                        </a:rPr>
                        <a:t>2026 年 9 月 18 日晚，罗永浩发微博质疑西贝…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自由文本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/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文档文本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00" b="0" i="0">
                          <a:solidFill>
                            <a:srgbClr val="1A2230"/>
                          </a:solidFill>
                          <a:latin typeface="Consolas"/>
                          <a:ea typeface="Consolas"/>
                        </a:rPr>
                        <a:t>=== 文档 1: xxx.md ===</a:t>
                      </a:r>
                      <a:endParaRPr/>
                    </a:p>
                    <a:p>
                      <a:pPr/>
                      <a:r>
                        <a:rPr/>
                        <a:t>2026 年 9 月 18 日…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str + 文档头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/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文本块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00" b="0" i="0">
                          <a:solidFill>
                            <a:srgbClr val="1A2230"/>
                          </a:solidFill>
                          <a:latin typeface="Consolas"/>
                          <a:ea typeface="Consolas"/>
                        </a:rPr>
                        <a:t>…发微博质疑西贝使用预制菜…（500 字符窗口）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List[str]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/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本体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00" b="0" i="0">
                          <a:solidFill>
                            <a:srgbClr val="1A2230"/>
                          </a:solidFill>
                          <a:latin typeface="Consolas"/>
                          <a:ea typeface="Consolas"/>
                        </a:rPr>
                        <a:t>Celebrity / Company / CRITICIZES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dict（schema）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/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图节点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00" b="0" i="0">
                          <a:solidFill>
                            <a:srgbClr val="1A2230"/>
                          </a:solidFill>
                          <a:latin typeface="Consolas"/>
                          <a:ea typeface="Consolas"/>
                        </a:rPr>
                        <a:t>name=罗永浩, labels=[Entity, Celebrity]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Zep 节点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/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图边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00" b="0" i="0">
                          <a:solidFill>
                            <a:srgbClr val="1A2230"/>
                          </a:solidFill>
                          <a:latin typeface="Consolas"/>
                          <a:ea typeface="Consolas"/>
                        </a:rPr>
                        <a:t>CRITICIZES: 罗永浩 → 西贝（fact 文本）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Zep 边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/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实体对象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00" b="0" i="0">
                          <a:solidFill>
                            <a:srgbClr val="1A2230"/>
                          </a:solidFill>
                          <a:latin typeface="Consolas"/>
                          <a:ea typeface="Consolas"/>
                        </a:rPr>
                        <a:t>EntityNode + related_edges + related_nodes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dataclass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/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7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00" b="1" i="0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智能体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00" b="0" i="0">
                          <a:solidFill>
                            <a:srgbClr val="1A2230"/>
                          </a:solidFill>
                          <a:latin typeface="Consolas"/>
                          <a:ea typeface="Consolas"/>
                        </a:rPr>
                        <a:t>persona 2000 字 + stance=opposing + influence 2.8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300" b="0" i="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profile + config</a:t>
                      </a:r>
                      <a:endParaRPr/>
                    </a:p>
                  </a:txBody>
                  <a:tcPr marL="91440" marT="27432" marB="27432" anchor="ctr"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</a:tbl>
          </a:graphicData>
        </a:graphic>
      </p:graphicFrame>
      <p:sp>
        <p:nvSpPr>
          <p:cNvPr id="143" name="TextBox 4"/>
          <p:cNvSpPr txBox="1"/>
          <p:nvPr/>
        </p:nvSpPr>
        <p:spPr>
          <a:xfrm>
            <a:off x="381030" y="6199632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 i="0">
                <a:solidFill>
                  <a:srgbClr val="0E3F8C"/>
                </a:solidFill>
                <a:latin typeface="Microsoft YaHei"/>
                <a:ea typeface="Microsoft YaHei"/>
              </a:rPr>
              <a:t>规律：前两步在做「降维」（文本 → 窗口），中间在「升维」（加类型与关系），最后又「降维」成人设文本。</a:t>
            </a:r>
            <a:endParaRPr/>
          </a:p>
        </p:txBody>
      </p:sp>
      <p:sp>
        <p:nvSpPr>
          <p:cNvPr id="144" name="Rectangle 5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5" name="TextBox 6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  <a:endParaRPr/>
          </a:p>
        </p:txBody>
      </p:sp>
      <p:sp>
        <p:nvSpPr>
          <p:cNvPr id="146" name="TextBox 7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18 / 21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30" tIns="0" rIns="0" bIns="0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信息衰减：什么在每一步悄悄丢了</a:t>
            </a:r>
            <a:endParaRPr/>
          </a:p>
        </p:txBody>
      </p:sp>
      <p:sp>
        <p:nvSpPr>
          <p:cNvPr id="149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这是判断「为什么模拟结果不对」的第一张地图</a:t>
            </a:r>
            <a:endParaRPr/>
          </a:p>
        </p:txBody>
      </p:sp>
      <p:sp>
        <p:nvSpPr>
          <p:cNvPr id="150" name="Rounded Rectangle 3"/>
          <p:cNvSpPr/>
          <p:nvPr/>
        </p:nvSpPr>
        <p:spPr>
          <a:xfrm>
            <a:off x="381030" y="1170432"/>
            <a:ext cx="11430000" cy="932688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1" name="Rectangle 4"/>
          <p:cNvSpPr/>
          <p:nvPr/>
        </p:nvSpPr>
        <p:spPr>
          <a:xfrm>
            <a:off x="381030" y="1170432"/>
            <a:ext cx="82296" cy="932688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2" name="TextBox 5"/>
          <p:cNvSpPr txBox="1"/>
          <p:nvPr/>
        </p:nvSpPr>
        <p:spPr>
          <a:xfrm>
            <a:off x="609630" y="1261872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50" b="1" i="0">
                <a:solidFill>
                  <a:srgbClr val="0E3F8C"/>
                </a:solidFill>
                <a:latin typeface="Microsoft YaHei"/>
                <a:ea typeface="Microsoft YaHei"/>
              </a:rPr>
              <a:t>阶段 0 切块</a:t>
            </a:r>
            <a:endParaRPr/>
          </a:p>
        </p:txBody>
      </p:sp>
      <p:sp>
        <p:nvSpPr>
          <p:cNvPr id="153" name="TextBox 6"/>
          <p:cNvSpPr txBox="1"/>
          <p:nvPr/>
        </p:nvSpPr>
        <p:spPr>
          <a:xfrm>
            <a:off x="609630" y="1645920"/>
            <a:ext cx="19202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D9534F"/>
                </a:solidFill>
                <a:latin typeface="Microsoft YaHei"/>
                <a:ea typeface="Microsoft YaHei"/>
              </a:rPr>
              <a:t>来源、发布时间、传播量</a:t>
            </a:r>
            <a:endParaRPr/>
          </a:p>
        </p:txBody>
      </p:sp>
      <p:sp>
        <p:nvSpPr>
          <p:cNvPr id="154" name="TextBox 7"/>
          <p:cNvSpPr txBox="1"/>
          <p:nvPr/>
        </p:nvSpPr>
        <p:spPr>
          <a:xfrm>
            <a:off x="2697480" y="1371600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切块只保留字符，元信息不在块内 → 后文无从得知这条来自哪、什么时候。</a:t>
            </a:r>
            <a:endParaRPr/>
          </a:p>
        </p:txBody>
      </p:sp>
      <p:sp>
        <p:nvSpPr>
          <p:cNvPr id="155" name="Rounded Rectangle 8"/>
          <p:cNvSpPr/>
          <p:nvPr/>
        </p:nvSpPr>
        <p:spPr>
          <a:xfrm>
            <a:off x="381030" y="2167128"/>
            <a:ext cx="11430000" cy="932688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6" name="Rectangle 9"/>
          <p:cNvSpPr/>
          <p:nvPr/>
        </p:nvSpPr>
        <p:spPr>
          <a:xfrm>
            <a:off x="381030" y="2167128"/>
            <a:ext cx="82296" cy="932688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7" name="TextBox 10"/>
          <p:cNvSpPr txBox="1"/>
          <p:nvPr/>
        </p:nvSpPr>
        <p:spPr>
          <a:xfrm>
            <a:off x="609630" y="22585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50" b="1" i="0">
                <a:solidFill>
                  <a:srgbClr val="0E3F8C"/>
                </a:solidFill>
                <a:latin typeface="Microsoft YaHei"/>
                <a:ea typeface="Microsoft YaHei"/>
              </a:rPr>
              <a:t>阶段 ③ 抽取</a:t>
            </a:r>
            <a:endParaRPr/>
          </a:p>
        </p:txBody>
      </p:sp>
      <p:sp>
        <p:nvSpPr>
          <p:cNvPr id="158" name="TextBox 11"/>
          <p:cNvSpPr txBox="1"/>
          <p:nvPr/>
        </p:nvSpPr>
        <p:spPr>
          <a:xfrm>
            <a:off x="609630" y="2642616"/>
            <a:ext cx="19202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D9534F"/>
                </a:solidFill>
                <a:latin typeface="Microsoft YaHei"/>
                <a:ea typeface="Microsoft YaHei"/>
              </a:rPr>
              <a:t>时间与顺序</a:t>
            </a:r>
            <a:endParaRPr/>
          </a:p>
        </p:txBody>
      </p:sp>
      <p:sp>
        <p:nvSpPr>
          <p:cNvPr id="159" name="TextBox 12"/>
          <p:cNvSpPr txBox="1"/>
          <p:nvPr/>
        </p:nvSpPr>
        <p:spPr>
          <a:xfrm>
            <a:off x="2697480" y="2368296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BatchAddItem 支持 created_at 但没有传，所有 episode 时间都是「现在」，演化顺序失真。</a:t>
            </a:r>
            <a:endParaRPr/>
          </a:p>
        </p:txBody>
      </p:sp>
      <p:sp>
        <p:nvSpPr>
          <p:cNvPr id="160" name="Rounded Rectangle 13"/>
          <p:cNvSpPr/>
          <p:nvPr/>
        </p:nvSpPr>
        <p:spPr>
          <a:xfrm>
            <a:off x="381030" y="3163824"/>
            <a:ext cx="11430000" cy="932688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1" name="Rectangle 14"/>
          <p:cNvSpPr/>
          <p:nvPr/>
        </p:nvSpPr>
        <p:spPr>
          <a:xfrm>
            <a:off x="381030" y="3163824"/>
            <a:ext cx="82296" cy="932688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2" name="TextBox 15"/>
          <p:cNvSpPr txBox="1"/>
          <p:nvPr/>
        </p:nvSpPr>
        <p:spPr>
          <a:xfrm>
            <a:off x="609630" y="3255264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50" b="1" i="0">
                <a:solidFill>
                  <a:srgbClr val="0E3F8C"/>
                </a:solidFill>
                <a:latin typeface="Microsoft YaHei"/>
                <a:ea typeface="Microsoft YaHei"/>
              </a:rPr>
              <a:t>阶段 ④ 过滤</a:t>
            </a:r>
            <a:endParaRPr/>
          </a:p>
        </p:txBody>
      </p:sp>
      <p:sp>
        <p:nvSpPr>
          <p:cNvPr id="163" name="TextBox 16"/>
          <p:cNvSpPr txBox="1"/>
          <p:nvPr/>
        </p:nvSpPr>
        <p:spPr>
          <a:xfrm>
            <a:off x="609630" y="3639312"/>
            <a:ext cx="19202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D9534F"/>
                </a:solidFill>
                <a:latin typeface="Microsoft YaHei"/>
                <a:ea typeface="Microsoft YaHei"/>
              </a:rPr>
              <a:t>本体未覆盖的实体</a:t>
            </a:r>
            <a:endParaRPr/>
          </a:p>
        </p:txBody>
      </p:sp>
      <p:sp>
        <p:nvSpPr>
          <p:cNvPr id="164" name="TextBox 17"/>
          <p:cNvSpPr txBox="1"/>
          <p:nvPr/>
        </p:nvSpPr>
        <p:spPr>
          <a:xfrm>
            <a:off x="2697480" y="3364992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只有 Entity / Node 标签的节点被丢弃，10 个类型之外的实体全部消失。</a:t>
            </a:r>
            <a:endParaRPr/>
          </a:p>
        </p:txBody>
      </p:sp>
      <p:sp>
        <p:nvSpPr>
          <p:cNvPr id="165" name="Rounded Rectangle 18"/>
          <p:cNvSpPr/>
          <p:nvPr/>
        </p:nvSpPr>
        <p:spPr>
          <a:xfrm>
            <a:off x="381030" y="4160520"/>
            <a:ext cx="11430000" cy="932688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6" name="Rectangle 19"/>
          <p:cNvSpPr/>
          <p:nvPr/>
        </p:nvSpPr>
        <p:spPr>
          <a:xfrm>
            <a:off x="381030" y="4160520"/>
            <a:ext cx="82296" cy="93268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7" name="TextBox 20"/>
          <p:cNvSpPr txBox="1"/>
          <p:nvPr/>
        </p:nvSpPr>
        <p:spPr>
          <a:xfrm>
            <a:off x="609630" y="425196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50" b="1" i="0">
                <a:solidFill>
                  <a:srgbClr val="0E3F8C"/>
                </a:solidFill>
                <a:latin typeface="Microsoft YaHei"/>
                <a:ea typeface="Microsoft YaHei"/>
              </a:rPr>
              <a:t>阶段 ⑤ 画像</a:t>
            </a:r>
            <a:endParaRPr/>
          </a:p>
        </p:txBody>
      </p:sp>
      <p:sp>
        <p:nvSpPr>
          <p:cNvPr id="168" name="TextBox 21"/>
          <p:cNvSpPr txBox="1"/>
          <p:nvPr/>
        </p:nvSpPr>
        <p:spPr>
          <a:xfrm>
            <a:off x="609630" y="4636008"/>
            <a:ext cx="19202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FFC107"/>
                </a:solidFill>
                <a:latin typeface="Microsoft YaHei"/>
                <a:ea typeface="Microsoft YaHei"/>
              </a:rPr>
              <a:t>上下文之外的细节</a:t>
            </a:r>
            <a:endParaRPr/>
          </a:p>
        </p:txBody>
      </p:sp>
      <p:sp>
        <p:nvSpPr>
          <p:cNvPr id="169" name="TextBox 22"/>
          <p:cNvSpPr txBox="1"/>
          <p:nvPr/>
        </p:nvSpPr>
        <p:spPr>
          <a:xfrm>
            <a:off x="2697480" y="4361688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上下文截断 3000 字符；边少的实体写出来的 persona 会很空。</a:t>
            </a:r>
            <a:endParaRPr/>
          </a:p>
        </p:txBody>
      </p:sp>
      <p:sp>
        <p:nvSpPr>
          <p:cNvPr id="170" name="Rounded Rectangle 23"/>
          <p:cNvSpPr/>
          <p:nvPr/>
        </p:nvSpPr>
        <p:spPr>
          <a:xfrm>
            <a:off x="381030" y="5157216"/>
            <a:ext cx="11430000" cy="932688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1" name="Rectangle 24"/>
          <p:cNvSpPr/>
          <p:nvPr/>
        </p:nvSpPr>
        <p:spPr>
          <a:xfrm>
            <a:off x="381030" y="5157216"/>
            <a:ext cx="82296" cy="93268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2" name="TextBox 25"/>
          <p:cNvSpPr txBox="1"/>
          <p:nvPr/>
        </p:nvSpPr>
        <p:spPr>
          <a:xfrm>
            <a:off x="609630" y="5248656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50" b="1" i="0">
                <a:solidFill>
                  <a:srgbClr val="0E3F8C"/>
                </a:solidFill>
                <a:latin typeface="Microsoft YaHei"/>
                <a:ea typeface="Microsoft YaHei"/>
              </a:rPr>
              <a:t>阶段 ⑥ 配置</a:t>
            </a:r>
            <a:endParaRPr/>
          </a:p>
        </p:txBody>
      </p:sp>
      <p:sp>
        <p:nvSpPr>
          <p:cNvPr id="173" name="TextBox 26"/>
          <p:cNvSpPr txBox="1"/>
          <p:nvPr/>
        </p:nvSpPr>
        <p:spPr>
          <a:xfrm>
            <a:off x="609630" y="5632704"/>
            <a:ext cx="19202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FFC107"/>
                </a:solidFill>
                <a:latin typeface="Microsoft YaHei"/>
                <a:ea typeface="Microsoft YaHei"/>
              </a:rPr>
              <a:t>真实影响力</a:t>
            </a:r>
            <a:endParaRPr/>
          </a:p>
        </p:txBody>
      </p:sp>
      <p:sp>
        <p:nvSpPr>
          <p:cNvPr id="174" name="TextBox 27"/>
          <p:cNvSpPr txBox="1"/>
          <p:nvPr/>
        </p:nvSpPr>
        <p:spPr>
          <a:xfrm>
            <a:off x="2697480" y="5358384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0" i="0">
                <a:solidFill>
                  <a:srgbClr val="1A2230"/>
                </a:solidFill>
                <a:latin typeface="Microsoft YaHei"/>
                <a:ea typeface="Microsoft YaHei"/>
              </a:rPr>
              <a:t>follower_count 硬编码 150，用户名后缀随机数，影响力维度目前不反映现实。</a:t>
            </a:r>
            <a:endParaRPr/>
          </a:p>
        </p:txBody>
      </p:sp>
      <p:sp>
        <p:nvSpPr>
          <p:cNvPr id="175" name="Rectangle 28"/>
          <p:cNvSpPr/>
          <p:nvPr/>
        </p:nvSpPr>
        <p:spPr>
          <a:xfrm>
            <a:off x="381030" y="6053328"/>
            <a:ext cx="11430000" cy="18288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6" name="Rectangle 29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7" name="TextBox 30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  <a:endParaRPr/>
          </a:p>
        </p:txBody>
      </p:sp>
      <p:sp>
        <p:nvSpPr>
          <p:cNvPr id="178" name="TextBox 31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19 / 21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2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ectangle 1"/>
          <p:cNvSpPr/>
          <p:nvPr/>
        </p:nvSpPr>
        <p:spPr>
          <a:xfrm>
            <a:off x="0" y="0"/>
            <a:ext cx="12191969" cy="6858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30" tIns="0" rIns="0" bIns="0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附录：断点清单与离线验证</a:t>
            </a:r>
            <a:endParaRPr/>
          </a:p>
        </p:txBody>
      </p:sp>
      <p:sp>
        <p:nvSpPr>
          <p:cNvPr id="212" name="TextBox 2"/>
          <p:cNvSpPr txBox="1"/>
          <p:nvPr/>
        </p:nvSpPr>
        <p:spPr>
          <a:xfrm>
            <a:off x="381030" y="722376"/>
            <a:ext cx="11430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4A5568"/>
                </a:solidFill>
                <a:latin typeface="Microsoft YaHei"/>
                <a:ea typeface="Microsoft YaHei"/>
              </a:rPr>
              <a:t>不用启动服务就能验证前面大部分结论</a:t>
            </a:r>
            <a:endParaRPr/>
          </a:p>
        </p:txBody>
      </p:sp>
      <p:sp>
        <p:nvSpPr>
          <p:cNvPr id="213" name="Rounded Rectangle 3"/>
          <p:cNvSpPr/>
          <p:nvPr/>
        </p:nvSpPr>
        <p:spPr>
          <a:xfrm>
            <a:off x="381030" y="1188720"/>
            <a:ext cx="5532120" cy="48280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4" name="Rectangle 4"/>
          <p:cNvSpPr/>
          <p:nvPr/>
        </p:nvSpPr>
        <p:spPr>
          <a:xfrm>
            <a:off x="381030" y="1188720"/>
            <a:ext cx="5532120" cy="402336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5" name="TextBox 5"/>
          <p:cNvSpPr txBox="1"/>
          <p:nvPr/>
        </p:nvSpPr>
        <p:spPr>
          <a:xfrm>
            <a:off x="381030" y="1188720"/>
            <a:ext cx="5532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断点打在这四处</a:t>
            </a:r>
            <a:endParaRPr/>
          </a:p>
        </p:txBody>
      </p:sp>
      <p:sp>
        <p:nvSpPr>
          <p:cNvPr id="216" name="TextBox 6"/>
          <p:cNvSpPr txBox="1"/>
          <p:nvPr/>
        </p:nvSpPr>
        <p:spPr>
          <a:xfrm>
            <a:off x="600486" y="1755648"/>
            <a:ext cx="5093208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50" b="1" i="0">
                <a:solidFill>
                  <a:srgbClr val="0E3F8C"/>
                </a:solidFill>
                <a:latin typeface="Consolas"/>
                <a:ea typeface="Consolas"/>
              </a:rPr>
              <a:t>ontology_generator.py:235</a:t>
            </a:r>
            <a:endParaRPr/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看模型收到的完整 messages</a:t>
            </a:r>
            <a:endParaRPr/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50" b="1" i="0">
                <a:solidFill>
                  <a:srgbClr val="0E3F8C"/>
                </a:solidFill>
                <a:latin typeface="Consolas"/>
                <a:ea typeface="Consolas"/>
              </a:rPr>
              <a:t>graph_builder.py:470</a:t>
            </a:r>
            <a:endParaRPr/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看喂给 Zep 的文本块长什么样</a:t>
            </a:r>
            <a:endParaRPr/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50" b="1" i="0">
                <a:solidFill>
                  <a:srgbClr val="0E3F8C"/>
                </a:solidFill>
                <a:latin typeface="Consolas"/>
                <a:ea typeface="Consolas"/>
              </a:rPr>
              <a:t>oasis_profile_generator.py:530</a:t>
            </a:r>
            <a:endParaRPr/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看画像的上下文够不够</a:t>
            </a:r>
            <a:endParaRPr/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50" b="1" i="0">
                <a:solidFill>
                  <a:srgbClr val="0E3F8C"/>
                </a:solidFill>
                <a:latin typeface="Consolas"/>
                <a:ea typeface="Consolas"/>
              </a:rPr>
              <a:t>report_agent.py:1460</a:t>
            </a:r>
            <a:endParaRPr/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  <a:ea typeface="Microsoft YaHei"/>
              </a:rPr>
              <a:t>看工具调用如何执行</a:t>
            </a:r>
            <a:endParaRPr/>
          </a:p>
        </p:txBody>
      </p:sp>
      <p:sp>
        <p:nvSpPr>
          <p:cNvPr id="217" name="Rounded Rectangle 7"/>
          <p:cNvSpPr/>
          <p:nvPr/>
        </p:nvSpPr>
        <p:spPr>
          <a:xfrm>
            <a:off x="6263640" y="1188720"/>
            <a:ext cx="5532120" cy="482803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8" name="Rectangle 8"/>
          <p:cNvSpPr/>
          <p:nvPr/>
        </p:nvSpPr>
        <p:spPr>
          <a:xfrm>
            <a:off x="6263640" y="1188720"/>
            <a:ext cx="5532120" cy="402336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9" name="TextBox 9"/>
          <p:cNvSpPr txBox="1"/>
          <p:nvPr/>
        </p:nvSpPr>
        <p:spPr>
          <a:xfrm>
            <a:off x="6263640" y="1188720"/>
            <a:ext cx="5532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零成本看提示词（不烧 token）</a:t>
            </a:r>
            <a:endParaRPr/>
          </a:p>
        </p:txBody>
      </p:sp>
      <p:sp>
        <p:nvSpPr>
          <p:cNvPr id="220" name="TextBox 10"/>
          <p:cNvSpPr txBox="1"/>
          <p:nvPr/>
        </p:nvSpPr>
        <p:spPr>
          <a:xfrm>
            <a:off x="6446520" y="1755648"/>
            <a:ext cx="51663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from app.services.ontology_generator \</a:t>
            </a:r>
            <a:endParaRPr/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import OntologyGenerator</a:t>
            </a:r>
            <a:endParaRPr/>
          </a:p>
          <a:p>
            <a:pPr algn="l">
              <a:lnSpc>
                <a:spcPct val="116000"/>
              </a:lnSpc>
              <a:spcAft>
                <a:spcPts val="0"/>
              </a:spcAft>
            </a:pPr>
            <a:endParaRPr/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# 用 __new__ 绕过 __init__，不建 LLMClient</a:t>
            </a:r>
            <a:endParaRPr/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g = OntologyGenerator.__new__(</a:t>
            </a:r>
            <a:endParaRPr/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    OntologyGenerator)</a:t>
            </a:r>
            <a:endParaRPr/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print(g._build_user_message(</a:t>
            </a:r>
            <a:endParaRPr/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["罗永浩质疑西贝预制菜"],</a:t>
            </a:r>
            <a:endParaRPr/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0" i="0">
                <a:solidFill>
                  <a:srgbClr val="1A2230"/>
                </a:solidFill>
                <a:latin typeface="Consolas"/>
                <a:ea typeface="Consolas"/>
              </a:rPr>
              <a:t>    "预测西贝舆情走势", None))</a:t>
            </a:r>
            <a:endParaRPr/>
          </a:p>
        </p:txBody>
      </p:sp>
      <p:sp>
        <p:nvSpPr>
          <p:cNvPr id="221" name="TextBox 11"/>
          <p:cNvSpPr txBox="1"/>
          <p:nvPr/>
        </p:nvSpPr>
        <p:spPr>
          <a:xfrm>
            <a:off x="6446520" y="4224528"/>
            <a:ext cx="51663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 i="0">
                <a:solidFill>
                  <a:srgbClr val="0E3F8C"/>
                </a:solidFill>
                <a:latin typeface="Microsoft YaHei"/>
                <a:ea typeface="Microsoft YaHei"/>
              </a:rPr>
              <a:t>四个会浪费时间的坑</a:t>
            </a:r>
            <a:endParaRPr/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1. 后台线程异常被 fail_task 吞掉，日志无堆栈</a:t>
            </a:r>
            <a:endParaRPr/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2. TaskManager 是内存单例，重启后任务全丢</a:t>
            </a:r>
            <a:endParaRPr/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3. 调试配置必须加 --no-reload，否则断点不命中</a:t>
            </a:r>
            <a:endParaRPr/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 i="0">
                <a:solidFill>
                  <a:srgbClr val="1A2230"/>
                </a:solidFill>
                <a:latin typeface="Microsoft YaHei"/>
                <a:ea typeface="Microsoft YaHei"/>
              </a:rPr>
              <a:t>4. 模拟子进程断点进不去，需手动运行脚本</a:t>
            </a:r>
            <a:endParaRPr/>
          </a:p>
        </p:txBody>
      </p:sp>
      <p:sp>
        <p:nvSpPr>
          <p:cNvPr id="222" name="Rectangle 12"/>
          <p:cNvSpPr/>
          <p:nvPr/>
        </p:nvSpPr>
        <p:spPr>
          <a:xfrm>
            <a:off x="381030" y="6291072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3" name="TextBox 13"/>
          <p:cNvSpPr txBox="1"/>
          <p:nvPr/>
        </p:nvSpPr>
        <p:spPr>
          <a:xfrm>
            <a:off x="381030" y="634593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8B97A8"/>
                </a:solidFill>
                <a:latin typeface="Microsoft YaHei"/>
                <a:ea typeface="Microsoft YaHei"/>
              </a:rPr>
              <a:t>MiroFish 数据流转全景 · 基于代码分析</a:t>
            </a:r>
            <a:endParaRPr/>
          </a:p>
        </p:txBody>
      </p:sp>
      <p:sp>
        <p:nvSpPr>
          <p:cNvPr id="224" name="TextBox 14"/>
          <p:cNvSpPr txBox="1"/>
          <p:nvPr/>
        </p:nvSpPr>
        <p:spPr>
          <a:xfrm>
            <a:off x="10607040" y="6345936"/>
            <a:ext cx="1197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E4FA8"/>
                </a:solidFill>
                <a:latin typeface="Microsoft YaHei"/>
                <a:ea typeface="Microsoft YaHei"/>
              </a:rPr>
              <a:t>20 / 21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2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7" name="Rectangle 2"/>
          <p:cNvSpPr/>
          <p:nvPr/>
        </p:nvSpPr>
        <p:spPr>
          <a:xfrm>
            <a:off x="0" y="6309360"/>
            <a:ext cx="12191969" cy="54864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8" name="Rectangle 3"/>
          <p:cNvSpPr/>
          <p:nvPr/>
        </p:nvSpPr>
        <p:spPr>
          <a:xfrm>
            <a:off x="914400" y="1691640"/>
            <a:ext cx="82296" cy="27432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9" name="TextBox 4"/>
          <p:cNvSpPr txBox="1"/>
          <p:nvPr/>
        </p:nvSpPr>
        <p:spPr>
          <a:xfrm>
            <a:off x="1234440" y="169164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</a:rPr>
              <a:t>三句话记住这套系统</a:t>
            </a:r>
            <a:endParaRPr/>
          </a:p>
        </p:txBody>
      </p:sp>
      <p:sp>
        <p:nvSpPr>
          <p:cNvPr id="230" name="Rectangle 5"/>
          <p:cNvSpPr/>
          <p:nvPr/>
        </p:nvSpPr>
        <p:spPr>
          <a:xfrm>
            <a:off x="1234440" y="2862072"/>
            <a:ext cx="146304" cy="3840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1" name="TextBox 6"/>
          <p:cNvSpPr txBox="1"/>
          <p:nvPr/>
        </p:nvSpPr>
        <p:spPr>
          <a:xfrm>
            <a:off x="1572768" y="2788920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300" b="1" i="0">
                <a:solidFill>
                  <a:srgbClr val="FFC107"/>
                </a:solidFill>
                <a:latin typeface="Microsoft YaHei"/>
                <a:ea typeface="Microsoft YaHei"/>
              </a:rPr>
              <a:t>数据只认文本</a:t>
            </a:r>
            <a:endParaRPr/>
          </a:p>
        </p:txBody>
      </p:sp>
      <p:sp>
        <p:nvSpPr>
          <p:cNvPr id="232" name="TextBox 7"/>
          <p:cNvSpPr txBox="1"/>
          <p:nvPr/>
        </p:nvSpPr>
        <p:spPr>
          <a:xfrm>
            <a:off x="1572768" y="3264408"/>
            <a:ext cx="9326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Microsoft YaHei"/>
                <a:ea typeface="Microsoft YaHei"/>
              </a:rPr>
              <a:t>结构化字段必须渲染进正文，否则等于没传。</a:t>
            </a:r>
            <a:endParaRPr/>
          </a:p>
        </p:txBody>
      </p:sp>
      <p:sp>
        <p:nvSpPr>
          <p:cNvPr id="233" name="Rectangle 8"/>
          <p:cNvSpPr/>
          <p:nvPr/>
        </p:nvSpPr>
        <p:spPr>
          <a:xfrm>
            <a:off x="1234440" y="3913632"/>
            <a:ext cx="146304" cy="3840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4" name="TextBox 9"/>
          <p:cNvSpPr txBox="1"/>
          <p:nvPr/>
        </p:nvSpPr>
        <p:spPr>
          <a:xfrm>
            <a:off x="1572768" y="3840480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300" b="1" i="0">
                <a:solidFill>
                  <a:srgbClr val="FFC107"/>
                </a:solidFill>
                <a:latin typeface="Microsoft YaHei"/>
                <a:ea typeface="Microsoft YaHei"/>
              </a:rPr>
              <a:t>抽取不在本地</a:t>
            </a:r>
            <a:endParaRPr/>
          </a:p>
        </p:txBody>
      </p:sp>
      <p:sp>
        <p:nvSpPr>
          <p:cNvPr id="235" name="TextBox 10"/>
          <p:cNvSpPr txBox="1"/>
          <p:nvPr/>
        </p:nvSpPr>
        <p:spPr>
          <a:xfrm>
            <a:off x="1572768" y="4315968"/>
            <a:ext cx="9326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Microsoft YaHei"/>
                <a:ea typeface="Microsoft YaHei"/>
              </a:rPr>
              <a:t>实体与边由 Zep 云端完成，能改的只有本体定义与文本质量。</a:t>
            </a:r>
            <a:endParaRPr/>
          </a:p>
        </p:txBody>
      </p:sp>
      <p:sp>
        <p:nvSpPr>
          <p:cNvPr id="236" name="Rectangle 11"/>
          <p:cNvSpPr/>
          <p:nvPr/>
        </p:nvSpPr>
        <p:spPr>
          <a:xfrm>
            <a:off x="1234440" y="4965192"/>
            <a:ext cx="146304" cy="3840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7" name="TextBox 12"/>
          <p:cNvSpPr txBox="1"/>
          <p:nvPr/>
        </p:nvSpPr>
        <p:spPr>
          <a:xfrm>
            <a:off x="1572768" y="4892040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300" b="1" i="0">
                <a:solidFill>
                  <a:srgbClr val="FFC107"/>
                </a:solidFill>
                <a:latin typeface="Microsoft YaHei"/>
                <a:ea typeface="Microsoft YaHei"/>
              </a:rPr>
              <a:t>领域自适应在本体</a:t>
            </a:r>
            <a:endParaRPr/>
          </a:p>
        </p:txBody>
      </p:sp>
      <p:sp>
        <p:nvSpPr>
          <p:cNvPr id="238" name="TextBox 13"/>
          <p:cNvSpPr txBox="1"/>
          <p:nvPr/>
        </p:nvSpPr>
        <p:spPr>
          <a:xfrm>
            <a:off x="1572768" y="5367528"/>
            <a:ext cx="9326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Microsoft YaHei"/>
                <a:ea typeface="Microsoft YaHei"/>
              </a:rPr>
              <a:t>10 个类型由模型按任务现场生成，种子越通用，下游越自由。</a:t>
            </a:r>
            <a:endParaRPr/>
          </a:p>
        </p:txBody>
      </p:sp>
      <p:sp>
        <p:nvSpPr>
          <p:cNvPr id="239" name="TextBox 14"/>
          <p:cNvSpPr txBox="1"/>
          <p:nvPr/>
        </p:nvSpPr>
        <p:spPr>
          <a:xfrm>
            <a:off x="1234440" y="642823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</a:rPr>
              <a:t>配套文档：docs/debugging-guide.md · docs/tech-roadmap.md · docs/seed-package-schema.md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="http://purl.org/dc/elements/1.1/" xmlns:dcterms="http://purl.org/dc/terms/" xmlns:cp="http://schemas.openxmlformats.org/package/2006/metadata/core-properties">
  <dcterms:created xsi:type="dcterms:W3CDTF">2026-09-22T13:46:49Z</dcterms:created>
  <dcterms:modified xsi:type="dcterms:W3CDTF">2026-09-22T13:46:49Z</dcterms:modified>
</cp:coreProperties>
</file>