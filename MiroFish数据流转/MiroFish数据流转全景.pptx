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601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969" cy="9601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82296" cy="265176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600" b="1" i="0">
                <a:solidFill>
                  <a:srgbClr val="0E3F8C"/>
                </a:solidFill>
                <a:latin typeface="Microsoft YaHei"/>
                <a:ea typeface="Microsoft YaHei"/>
              </a:rPr>
              <a:t>MiroFish 数据流转全景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88920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400" b="1" i="0">
                <a:solidFill>
                  <a:srgbClr val="1E4FA8"/>
                </a:solidFill>
                <a:latin typeface="Microsoft YaHei"/>
                <a:ea typeface="Microsoft YaHei"/>
              </a:rPr>
              <a:t>从种子文件到智能体人设：数据结构如何一步步变形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11880"/>
            <a:ext cx="9509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700" b="0" i="0">
                <a:solidFill>
                  <a:srgbClr val="4A5568"/>
                </a:solidFill>
                <a:latin typeface="Microsoft YaHei"/>
                <a:ea typeface="Microsoft YaHei"/>
              </a:rPr>
              <a:t>每一页回答同一个问题：这一步拿到什么、吐出什么、数据长什么样、由谁执行。</a:t>
            </a:r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700" b="0" i="0">
                <a:solidFill>
                  <a:srgbClr val="4A5568"/>
                </a:solidFill>
                <a:latin typeface="Microsoft YaHei"/>
                <a:ea typeface="Microsoft YaHei"/>
              </a:rPr>
              <a:t>全部结论来自源码逐行核对（backend/app 与 backend/scripts），不含推测。</a:t>
            </a:r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700" b="0" i="0">
                <a:solidFill>
                  <a:srgbClr val="4A5568"/>
                </a:solidFill>
                <a:latin typeface="Microsoft YaHei"/>
                <a:ea typeface="Microsoft YaHei"/>
              </a:rPr>
              <a:t>主流程讲原理与数据结构，末尾附录给出文件路径、行号与断点位置。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144768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技术讲解 · 2026 年 9 月 · 基线 git HEAD 39d8491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3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五章：全景 → 种子 → 图谱 → 人设 → 复盘与附录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30" y="1060704"/>
            <a:ext cx="11430000" cy="89611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30" y="1060704"/>
            <a:ext cx="896112" cy="89611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30" y="1060704"/>
            <a:ext cx="896112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17957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100" b="1" i="0">
                <a:solidFill>
                  <a:srgbClr val="0E3F8C"/>
                </a:solidFill>
                <a:latin typeface="Microsoft YaHei"/>
                <a:ea typeface="Microsoft YaHei"/>
              </a:rPr>
              <a:t>全景与总览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545336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谁在什么时候做什么：六次模型调用与数据形态总表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30" y="2089404"/>
            <a:ext cx="11430000" cy="89611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30" y="2089404"/>
            <a:ext cx="896112" cy="89611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030" y="2089404"/>
            <a:ext cx="896112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20827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100" b="1" i="0">
                <a:solidFill>
                  <a:srgbClr val="0E3F8C"/>
                </a:solidFill>
                <a:latin typeface="Microsoft YaHei"/>
                <a:ea typeface="Microsoft YaHei"/>
              </a:rPr>
              <a:t>种子与文本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574036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文件如何变成字符串、如何被切成块、本体如何被设计出来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030" y="3118104"/>
            <a:ext cx="11430000" cy="89611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1030" y="3118104"/>
            <a:ext cx="896112" cy="89611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30" y="3118104"/>
            <a:ext cx="896112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23697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100" b="1" i="0">
                <a:solidFill>
                  <a:srgbClr val="0E3F8C"/>
                </a:solidFill>
                <a:latin typeface="Microsoft YaHei"/>
                <a:ea typeface="Microsoft YaHei"/>
              </a:rPr>
              <a:t>文本到知识图谱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602736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本体装载、Zep 抽取黑盒、节点读回与过滤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030" y="4146804"/>
            <a:ext cx="11430000" cy="89611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1030" y="4146804"/>
            <a:ext cx="896112" cy="89611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030" y="4146804"/>
            <a:ext cx="896112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26567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100" b="1" i="0">
                <a:solidFill>
                  <a:srgbClr val="0E3F8C"/>
                </a:solidFill>
                <a:latin typeface="Microsoft YaHei"/>
                <a:ea typeface="Microsoft YaHei"/>
              </a:rPr>
              <a:t>图谱到智能体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631436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画像生成、行为配置、事件与时间配置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30" y="5175504"/>
            <a:ext cx="11430000" cy="89611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1030" y="5175504"/>
            <a:ext cx="896112" cy="89611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030" y="5175504"/>
            <a:ext cx="896112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29437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100" b="1" i="0">
                <a:solidFill>
                  <a:srgbClr val="0E3F8C"/>
                </a:solidFill>
                <a:latin typeface="Microsoft YaHei"/>
                <a:ea typeface="Microsoft YaHei"/>
              </a:rPr>
              <a:t>变形复盘与附录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5660136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信息在哪些步骤丢失、断点清单与已知缺陷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91840" y="0"/>
            <a:ext cx="54864" cy="685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2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96596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800" b="1" i="0">
                <a:solidFill>
                  <a:srgbClr val="0E3F8C"/>
                </a:solidFill>
                <a:latin typeface="Microsoft YaHei"/>
                <a:ea typeface="Microsoft YaHei"/>
              </a:rPr>
              <a:t>全景与总览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3182112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9663" y="3063240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六个阶段，三个执行者交替接力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3840480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9663" y="3721608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只有实体抽取不在本项目内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4498848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9663" y="4379976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一张表看清每一步的输入与输出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603504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第 3 页 / 共 21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3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全景：数据如何在六个阶段变形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三个执行者交替接力：本项目代码 / 本项目调用的模型 / Zep 云端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30" y="1481328"/>
            <a:ext cx="1821180" cy="21488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30" y="1481328"/>
            <a:ext cx="1821180" cy="38404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30" y="1481328"/>
            <a:ext cx="18211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① 本体生成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470" y="1993392"/>
            <a:ext cx="16383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本项目 · 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470" y="2414016"/>
            <a:ext cx="16383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文本 → 类型 schema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02794" y="1481328"/>
            <a:ext cx="1821180" cy="21488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02794" y="1481328"/>
            <a:ext cx="1821180" cy="384048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2794" y="1481328"/>
            <a:ext cx="18211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② 装载本体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4234" y="1993392"/>
            <a:ext cx="16383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4A5568"/>
                </a:solidFill>
                <a:latin typeface="Microsoft YaHei"/>
                <a:ea typeface="Microsoft YaHei"/>
              </a:rPr>
              <a:t>本项目 · 代码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4234" y="2414016"/>
            <a:ext cx="16383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schema → Pydantic 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58" y="1481328"/>
            <a:ext cx="1821180" cy="21488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4558" y="1481328"/>
            <a:ext cx="1821180" cy="38404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58" y="1481328"/>
            <a:ext cx="18211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③ 实体抽取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98" y="1993392"/>
            <a:ext cx="16383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D9534F"/>
                </a:solidFill>
                <a:latin typeface="Microsoft YaHei"/>
                <a:ea typeface="Microsoft YaHei"/>
              </a:rPr>
              <a:t>Zep 云端 · 黑盒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98" y="2414016"/>
            <a:ext cx="16383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文本块 → 节点与边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6322" y="1481328"/>
            <a:ext cx="1821180" cy="21488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6322" y="1481328"/>
            <a:ext cx="1821180" cy="38404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6322" y="1481328"/>
            <a:ext cx="18211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④ 画像生成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7762" y="1993392"/>
            <a:ext cx="16383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本项目 · 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7762" y="2414016"/>
            <a:ext cx="16383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实体 → 人设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8086" y="1481328"/>
            <a:ext cx="1821180" cy="21488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8086" y="1481328"/>
            <a:ext cx="1821180" cy="38404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8086" y="1481328"/>
            <a:ext cx="18211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⑤ 行为配置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9526" y="1993392"/>
            <a:ext cx="16383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本项目 · 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9526" y="2414016"/>
            <a:ext cx="16383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实体 → 行为参数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89850" y="1481328"/>
            <a:ext cx="1821180" cy="21488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89850" y="1481328"/>
            <a:ext cx="1821180" cy="38404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89850" y="1481328"/>
            <a:ext cx="18211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⑥ 事件配置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1290" y="1993392"/>
            <a:ext cx="16383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本项目 · 模型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1290" y="2414016"/>
            <a:ext cx="16383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实体 → 初始帖子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1030" y="3822191"/>
            <a:ext cx="11430000" cy="566928"/>
          </a:xfrm>
          <a:prstGeom prst="roundRect">
            <a:avLst>
              <a:gd name="adj" fmla="val 3000"/>
            </a:avLst>
          </a:prstGeom>
          <a:solidFill>
            <a:srgbClr val="E8EFF8"/>
          </a:solidFill>
          <a:ln w="127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3910" y="3822191"/>
            <a:ext cx="11064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阶段 0（前置，纯代码）：文件 → 文本 → 按 500 字符切块。它是后面所有阶段的输入源头。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1030" y="4590288"/>
            <a:ext cx="11430000" cy="1481328"/>
          </a:xfrm>
          <a:prstGeom prst="roundRect">
            <a:avLst>
              <a:gd name="adj" fmla="val 3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062" y="4736592"/>
            <a:ext cx="1091793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900" b="1" i="0">
                <a:solidFill>
                  <a:srgbClr val="FFC107"/>
                </a:solidFill>
                <a:latin typeface="Microsoft YaHei"/>
                <a:ea typeface="Microsoft YaHei"/>
              </a:rPr>
              <a:t>关键判断：六次模型调用里，只有 ③ 不在本项目内。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③ 由 Zep Cloud 服务端完成，代码里没有任何抽取提示词可以修改。想提升抽取质量，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只能改本体的类型定义，或改喂进去的文本块——这正是种子结构设计的价值所在。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3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数据形态总表：每一步的输入与输出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同一份素材，形态被改写六次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30" y="118872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331720"/>
                <a:gridCol w="2286000"/>
                <a:gridCol w="3657600"/>
                <a:gridCol w="2103120"/>
              </a:tblGrid>
              <a:tr h="5689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</a:t>
                      </a:r>
                    </a:p>
                  </a:txBody>
                  <a:tcPr anchor="ctr" marL="91440" marR="54864" marT="36576" marB="36576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输入</a:t>
                      </a:r>
                    </a:p>
                  </a:txBody>
                  <a:tcPr anchor="ctr" marL="91440" marR="54864" marT="36576" marB="36576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输出</a:t>
                      </a:r>
                    </a:p>
                  </a:txBody>
                  <a:tcPr anchor="ctr" marL="91440" marR="54864" marT="36576" marB="36576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数据结构</a:t>
                      </a:r>
                    </a:p>
                  </a:txBody>
                  <a:tcPr anchor="ctr" marL="91440" marR="54864" marT="36576" marB="36576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执行者</a:t>
                      </a:r>
                    </a:p>
                  </a:txBody>
                  <a:tcPr anchor="ctr" marL="91440" marR="54864" marT="36576" marB="36576">
                    <a:solidFill>
                      <a:srgbClr val="0E3F8C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0 解析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pdf / md / txt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带文档头的长文本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str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代码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0 切块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长文本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若干文本块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List[str]（500 字 / 50 重叠）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代码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① 本体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List[str] + 需求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10 类实体 + 边类型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dict（entity_types / edge_types）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模型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② 装载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本体 dict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Zep 侧类型约束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动态 Pydantic 类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代码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③ 抽取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文本块 + 类型约束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节点与边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Zep 图对象（黑盒）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Zep 云端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④ 读回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图节点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带上下文的实体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EntityNode（dataclass）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代码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⑤ 画像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EntityNode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人设字段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OasisAgentProfile（dataclass）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模型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⑥ 配置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实体列表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行为与事件参数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AgentActivityConfig / EventConfig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模型</a:t>
                      </a:r>
                    </a:p>
                  </a:txBody>
                  <a:tcPr anchor="ctr" marL="91440" marR="54864" marT="36576" marB="36576"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81030" y="6391656"/>
            <a:ext cx="11430000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30" y="6419088"/>
            <a:ext cx="11430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0E3F8C"/>
                </a:solidFill>
                <a:latin typeface="Microsoft YaHei"/>
                <a:ea typeface="Microsoft YaHei"/>
              </a:rPr>
              <a:t>读法：横着看是「形态怎么变」，竖着看是「谁在负责」。执行者为「代码」的两行不需要模型参与。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91840" y="0"/>
            <a:ext cx="54864" cy="685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2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96596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800" b="1" i="0">
                <a:solidFill>
                  <a:srgbClr val="0E3F8C"/>
                </a:solidFill>
                <a:latin typeface="Microsoft YaHei"/>
                <a:ea typeface="Microsoft YaHei"/>
              </a:rPr>
              <a:t>种子与文本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3182112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9663" y="3063240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文件如何变成字符串与文本块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3840480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9663" y="3721608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本体如何被模型设计出来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4498848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9663" y="4379976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代码在模型返回后又改了什么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603504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第 6 页 / 共 21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3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阶段 0：文件如何变成文本块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file_parser.py 与 text_processor.py，全程无模型参与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30" y="1188720"/>
            <a:ext cx="3566160" cy="22860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30" y="1188720"/>
            <a:ext cx="3566160" cy="3840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30" y="1188720"/>
            <a:ext cx="3566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输入：三种文件格式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198" y="1700784"/>
            <a:ext cx="3163824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支持 pdf / md / markdown / txt，</a:t>
            </a: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编码走 UTF-8 → charset-normalizer</a:t>
            </a: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→ chardet 的三级回退。</a:t>
            </a: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</a:rPr>
              <a:t>多文件合并时，每篇前面会插入：</a:t>
            </a: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00" b="0" i="0">
                <a:solidFill>
                  <a:srgbClr val="D9534F"/>
                </a:solidFill>
                <a:latin typeface="Consolas"/>
                <a:ea typeface="Consolas"/>
              </a:rPr>
              <a:t>=== 文档 N: 文件名 ===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383280" cy="3840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188720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处理：按字符切块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700784"/>
            <a:ext cx="2980944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0E3F8C"/>
                </a:solidFill>
                <a:latin typeface="Consolas"/>
                <a:ea typeface="Consolas"/>
              </a:rPr>
              <a:t>split_text_into_chunks(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0E3F8C"/>
                </a:solidFill>
                <a:latin typeface="Consolas"/>
                <a:ea typeface="Consolas"/>
              </a:rPr>
              <a:t>    500, 50)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每块 500 字符，重叠 50。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切点优先找句号 / 换行等边界，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1" i="0">
                <a:solidFill>
                  <a:srgbClr val="1A2230"/>
                </a:solidFill>
                <a:latin typeface="Microsoft YaHei"/>
                <a:ea typeface="Microsoft YaHei"/>
              </a:rPr>
              <a:t>但本质是字符窗口，不是语义单元。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188720"/>
            <a:ext cx="3931920" cy="22860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188720"/>
            <a:ext cx="3931920" cy="3840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188720"/>
            <a:ext cx="393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输出：List[str]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1700784"/>
            <a:ext cx="3529584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写入 Zep 时每块成为一个 episode，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元数据只有块序号与哈希。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1" i="0">
                <a:solidFill>
                  <a:srgbClr val="D9534F"/>
                </a:solidFill>
                <a:latin typeface="Microsoft YaHei"/>
                <a:ea typeface="Microsoft YaHei"/>
              </a:rPr>
              <a:t>来源、发布时间、传播量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1" i="0">
                <a:solidFill>
                  <a:srgbClr val="D9534F"/>
                </a:solidFill>
                <a:latin typeface="Microsoft YaHei"/>
                <a:ea typeface="Microsoft YaHei"/>
              </a:rPr>
              <a:t>在这一步就已经丢失。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30" y="3703320"/>
            <a:ext cx="11430000" cy="960120"/>
          </a:xfrm>
          <a:prstGeom prst="roundRect">
            <a:avLst>
              <a:gd name="adj" fmla="val 3000"/>
            </a:avLst>
          </a:prstGeom>
          <a:solidFill>
            <a:srgbClr val="E8EFF8"/>
          </a:solidFill>
          <a:ln w="127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30" y="3703320"/>
            <a:ext cx="10972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 i="0">
                <a:solidFill>
                  <a:srgbClr val="0E3F8C"/>
                </a:solidFill>
                <a:latin typeface="Microsoft YaHei"/>
                <a:ea typeface="Microsoft YaHei"/>
              </a:rPr>
              <a:t>机械切块的后果：一条微博和一篇新闻可能被切进同一块；长文切到第 3 块之后，来源头信息全部消失。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1030" y="4828032"/>
            <a:ext cx="11430000" cy="1280160"/>
          </a:xfrm>
          <a:prstGeom prst="roundRect">
            <a:avLst>
              <a:gd name="adj" fmla="val 3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62" y="4956048"/>
            <a:ext cx="1091793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900" b="1" i="0">
                <a:solidFill>
                  <a:srgbClr val="FFC107"/>
                </a:solidFill>
                <a:latin typeface="Microsoft YaHei"/>
                <a:ea typeface="Microsoft YaHei"/>
              </a:rPr>
              <a:t>所以最小单元应该是「一条证据」，不是字符窗口。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改进方向：让每个文本块自带来源、时间与传播量的头部，并按证据边界切，而不是按字符数切。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3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阶段 ①：本体生成——让模型设计类型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ontology_generator.py，全系统唯一的领域自适应机制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30" y="1188720"/>
            <a:ext cx="5029200" cy="484632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30" y="1188720"/>
            <a:ext cx="5029200" cy="40233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30" y="1188720"/>
            <a:ext cx="5029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输入：提示词里写死的硬约束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486" y="1737360"/>
            <a:ext cx="4590288" cy="422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1" i="0">
                <a:solidFill>
                  <a:srgbClr val="0E3F8C"/>
                </a:solidFill>
                <a:latin typeface="Microsoft YaHei"/>
                <a:ea typeface="Microsoft YaHei"/>
              </a:rPr>
              <a:t>必须正好 10 个实体类型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最后 2 个必须是 Person 与 Organization 兜底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实体必须能在社媒发声（明文禁止抽象概念、话题、观点）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边类型 6–10 个，需声明 source / target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类型名用英文 PascalCase，边名用 UPPER_SNAKE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属性名不能撞保留字（name / uuid / created_at）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每类附 1–3 个属性与若干示例实体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8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1" i="0">
                <a:solidFill>
                  <a:srgbClr val="1E4FA8"/>
                </a:solidFill>
                <a:latin typeface="Microsoft YaHei"/>
                <a:ea typeface="Microsoft YaHei"/>
              </a:rPr>
              <a:t>另外注入两份内容：模拟需求 + 文档正文。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</a:rPr>
              <a:t>正文超过 5 万字会等距抽样，最多 60 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188720"/>
            <a:ext cx="61722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23560" y="1188720"/>
            <a:ext cx="6172200" cy="402336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1188720"/>
            <a:ext cx="6172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输出：模型返回的本体（节选）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755648"/>
            <a:ext cx="58064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{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"entity_types": [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{ "name": "Celebrity",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  "description": "Public figure ...",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  "attributes": [{"name":"full_name"}],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  "examples": ["罗永浩"] },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{ "name": "Company", ... },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{ "name": "MediaOutlet", ... },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...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{ "name": "Person", ... },        // 兜底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{ "name": "Organization", ... }   // 兜底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],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"edge_types": [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{ "name": "CRITICIZES",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  "source_targets": [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    {"source":"Celebrity","target":"Company"} ] }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],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"analysis_summary": "..."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3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阶段 ①之后：代码强制校验发生了什么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_validate_and_process，提示词之外的一道保险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30" y="1188720"/>
            <a:ext cx="3639312" cy="26060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30" y="1188720"/>
            <a:ext cx="3639312" cy="42062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30" y="1188720"/>
            <a:ext cx="363931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10 个上限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198" y="1810512"/>
            <a:ext cx="32369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超过就截断末尾，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保留前 8 个具体类型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再加两个兜底。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Zep 侧的硬顶，绕不过去。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6374" y="1188720"/>
            <a:ext cx="3639312" cy="26060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6374" y="1188720"/>
            <a:ext cx="3639312" cy="420624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6374" y="1188720"/>
            <a:ext cx="363931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自动补兜底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7542" y="1810512"/>
            <a:ext cx="32369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模型没给 Person /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Organization 时，代码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直接补上；位置不够就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把末尾类型砍掉腾位。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1718" y="1188720"/>
            <a:ext cx="3639312" cy="26060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71718" y="1188720"/>
            <a:ext cx="3639312" cy="42062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1718" y="1188720"/>
            <a:ext cx="363931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中文名静默丢弃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2886" y="1810512"/>
            <a:ext cx="32369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PascalCase 转换按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非字母数字分词，中文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被整个吃掉后返回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Unknown，直接跳过。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30" y="3977639"/>
            <a:ext cx="11430000" cy="475488"/>
          </a:xfrm>
          <a:prstGeom prst="roundRect">
            <a:avLst>
              <a:gd name="adj" fmla="val 3000"/>
            </a:avLst>
          </a:prstGeom>
          <a:solidFill>
            <a:srgbClr val="E8EFF8"/>
          </a:solidFill>
          <a:ln w="127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98" y="3977639"/>
            <a:ext cx="110276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实测（本机运行）：输入 celebrity / criticizes / 罗永浩的粉丝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1030" y="4526280"/>
            <a:ext cx="11430000" cy="1783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0486" y="4617720"/>
            <a:ext cx="10991088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A2230"/>
                </a:solidFill>
                <a:latin typeface="Consolas"/>
                <a:ea typeface="Consolas"/>
              </a:rPr>
              <a:t>输入：{'entity_types':[{'name':'celebrity'},{'name':'罗永浩的粉丝'}],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A2230"/>
                </a:solidFill>
                <a:latin typeface="Consolas"/>
                <a:ea typeface="Consolas"/>
              </a:rPr>
              <a:t>       'edge_types':[{'name':'criticizes', ...}]}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A2230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A2230"/>
                </a:solidFill>
                <a:latin typeface="Consolas"/>
                <a:ea typeface="Consolas"/>
              </a:rPr>
              <a:t>输出：entity_types = ['Celebrity', 'Person', 'Organization']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A2230"/>
                </a:solidFill>
                <a:latin typeface="Consolas"/>
                <a:ea typeface="Consolas"/>
              </a:rPr>
              <a:t>      edge_types  = ['CRITICIZES']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A2230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A2230"/>
                </a:solidFill>
                <a:latin typeface="Consolas"/>
                <a:ea typeface="Consolas"/>
              </a:rPr>
              <a:t>日志：Entity type name 'celebrity' auto-converted to 'Celebrity'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A2230"/>
                </a:solidFill>
                <a:latin typeface="Consolas"/>
                <a:ea typeface="Consolas"/>
              </a:rPr>
              <a:t>      → 中文类型名没有报错，只是消失了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91840" y="0"/>
            <a:ext cx="54864" cy="685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2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96596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800" b="1" i="0">
                <a:solidFill>
                  <a:srgbClr val="0E3F8C"/>
                </a:solidFill>
                <a:latin typeface="Microsoft YaHei"/>
                <a:ea typeface="Microsoft YaHei"/>
              </a:rPr>
              <a:t>文本到知识图谱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3182112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9663" y="3063240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JSON 本体如何变成 Zep 的类型约束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3840480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9663" y="3721608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实体抽取的黑盒里发生了什么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4498848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9663" y="4379976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读回时谁被留下、谁被丢弃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603504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第 10 页 / 共 21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3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阶段 ②：装载本体——把 JSON 变成类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graph_builder.set_ontology，纯代码，无模型参与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30" y="1188720"/>
            <a:ext cx="539496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30" y="1188720"/>
            <a:ext cx="5394960" cy="40233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30" y="1188720"/>
            <a:ext cx="5394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代码动态生成的 Pydantic 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486" y="1755648"/>
            <a:ext cx="4956048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type("Celebrity", (EntityModel,), {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"__annotations__": {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    "full_name": Optional[EntityText],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},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"full_name": Field(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    description="Real name",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    default=None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)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})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client.graph.set_ontology(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entities=entity_types,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edges=edge_definitions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188720"/>
            <a:ext cx="5623560" cy="21488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188720"/>
            <a:ext cx="5623560" cy="402336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188720"/>
            <a:ext cx="5623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这一步在做什么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1755648"/>
            <a:ext cx="52212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把「类型定义」注册到 Zep 图谱上，成为后续抽取时的约束。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属性撞上保留字会被自动改名（如 name → entity_name）。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456432"/>
            <a:ext cx="5623560" cy="2286000"/>
          </a:xfrm>
          <a:prstGeom prst="roundRect">
            <a:avLst>
              <a:gd name="adj" fmla="val 3000"/>
            </a:avLst>
          </a:prstGeom>
          <a:solidFill>
            <a:srgbClr val="E8EFF8"/>
          </a:solidFill>
          <a:ln w="127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3566160"/>
            <a:ext cx="5221224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700" b="1" i="0">
                <a:solidFill>
                  <a:srgbClr val="0E3F8C"/>
                </a:solidFill>
                <a:latin typeface="Microsoft YaHei"/>
                <a:ea typeface="Microsoft YaHei"/>
              </a:rPr>
              <a:t>为什么重要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这一步决定了 ③ 能抽出什么。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类型描述越清楚、示例给得越准，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Zep 抽取时的命中率越高。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示例里写「罗永浩」，就等于直接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50" b="1" i="0">
                <a:solidFill>
                  <a:srgbClr val="1E4FA8"/>
                </a:solidFill>
                <a:latin typeface="Microsoft YaHei"/>
                <a:ea typeface="Microsoft YaHei"/>
              </a:rPr>
              <a:t>给 Celebrity 类型打了个靶。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3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阶段 ③：实体抽取发生在 Zep 云端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这是唯一一处代码里没有提示词、也无法打断点的环节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30" y="1188720"/>
            <a:ext cx="3429000" cy="278892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30" y="1188720"/>
            <a:ext cx="3429000" cy="40233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30" y="1188720"/>
            <a:ext cx="34290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输入：文本块 + 类型约束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910" y="1719072"/>
            <a:ext cx="3063240" cy="212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每个块 ≤ 10000 字符，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单批 ≤ 350 条，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总量 ≤ 50000 条。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7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1" i="0">
                <a:solidFill>
                  <a:srgbClr val="D9534F"/>
                </a:solidFill>
                <a:latin typeface="Microsoft YaHei"/>
                <a:ea typeface="Microsoft YaHei"/>
              </a:rPr>
              <a:t>你能看到的只有「发出去的文本」，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1" i="0">
                <a:solidFill>
                  <a:srgbClr val="D9534F"/>
                </a:solidFill>
                <a:latin typeface="Microsoft YaHei"/>
                <a:ea typeface="Microsoft YaHei"/>
              </a:rPr>
              <a:t>服务端怎么抽，是黑盒。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188720"/>
            <a:ext cx="3017520" cy="2788920"/>
          </a:xfrm>
          <a:prstGeom prst="roundRect">
            <a:avLst>
              <a:gd name="adj" fmla="val 3000"/>
            </a:avLst>
          </a:prstGeom>
          <a:solidFill>
            <a:srgbClr val="0E3F8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188720"/>
            <a:ext cx="3017520" cy="2788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Zep Cloud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000" b="1" i="0">
                <a:solidFill>
                  <a:srgbClr val="FFC107"/>
                </a:solidFill>
                <a:latin typeface="Microsoft YaHei"/>
                <a:ea typeface="Microsoft YaHei"/>
              </a:rPr>
              <a:t>服务端抽取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无提示词可改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无断点可打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188720"/>
            <a:ext cx="4434840" cy="2788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1188720"/>
            <a:ext cx="4434840" cy="40233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188720"/>
            <a:ext cx="4434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输出：节点与边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719072"/>
            <a:ext cx="40690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// 节点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{ "name": "罗永浩",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  "labels": ["Entity","Celebrity"],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  "summary": "锤子科技创始人…",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  "attributes": {"full_name":"罗永浩"} 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// 边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{ "name": "CRITICIZES",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  "fact": "罗永浩质疑西贝…",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  "source_node_name": "罗永浩",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  "target_node_name": "西贝"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030" y="4041648"/>
            <a:ext cx="11430000" cy="457200"/>
          </a:xfrm>
          <a:prstGeom prst="roundRect">
            <a:avLst>
              <a:gd name="adj" fmla="val 3000"/>
            </a:avLst>
          </a:prstGeom>
          <a:solidFill>
            <a:srgbClr val="E8EFF8"/>
          </a:solidFill>
          <a:ln w="127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198" y="4041648"/>
            <a:ext cx="110276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既然改不了提示词，能影响抽取质量的只有两个杠杆：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30" y="4645152"/>
            <a:ext cx="5614416" cy="129844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1030" y="4645152"/>
            <a:ext cx="73152" cy="129844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0486" y="4773168"/>
            <a:ext cx="51755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 i="0">
                <a:solidFill>
                  <a:srgbClr val="0E3F8C"/>
                </a:solidFill>
                <a:latin typeface="Microsoft YaHei"/>
                <a:ea typeface="Microsoft YaHei"/>
              </a:rPr>
              <a:t>杠杆一：本体定义质量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486" y="5193792"/>
            <a:ext cx="517550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description 是否清楚、examples 是否命中、属性是否合理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6614" y="4645152"/>
            <a:ext cx="5614416" cy="129844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6614" y="4645152"/>
            <a:ext cx="73152" cy="129844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6070" y="4773168"/>
            <a:ext cx="51755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 i="0">
                <a:solidFill>
                  <a:srgbClr val="0E3F8C"/>
                </a:solidFill>
                <a:latin typeface="Microsoft YaHei"/>
                <a:ea typeface="Microsoft YaHei"/>
              </a:rPr>
              <a:t>杠杆二：文本块质量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6070" y="5193792"/>
            <a:ext cx="517550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来源、时间、传播量是否写进了正文（唯一能影响黑盒的入口）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3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阶段 ④：读回与过滤——不是所有节点都能留下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zep_entity_reader.py，决定哪些实体能变成智能体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30" y="1188720"/>
            <a:ext cx="502920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30" y="1188720"/>
            <a:ext cx="5029200" cy="40233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30" y="1188720"/>
            <a:ext cx="5029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数据结构：EntityNode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486" y="1755648"/>
            <a:ext cx="459028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@dataclass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class EntityNode: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uuid: str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name: str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labels: List[str]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summary: str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attributes: Dict[str, Any]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related_edges: List[Dict]   # 出/入边与 fact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related_nodes: List[Dict]   # 关联实体摘要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188720"/>
            <a:ext cx="6172200" cy="28346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23560" y="1188720"/>
            <a:ext cx="6172200" cy="402336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1188720"/>
            <a:ext cx="6172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过滤规则：只有 Entity / Node 标签 → 丢弃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4728" y="1737360"/>
            <a:ext cx="5769864" cy="2212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Zep 会为所有节点打上 Entity 标签；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只有被本体覆盖的节点才会多出一个具体标签。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7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D9534F"/>
                </a:solidFill>
                <a:latin typeface="Microsoft YaHei"/>
                <a:ea typeface="Microsoft YaHei"/>
              </a:rPr>
              <a:t>因此：本体没覆盖的实体，在这一步静默消失。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这不是 Zep 抽错了，是本体没给它一个位置。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7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1" i="0">
                <a:solidFill>
                  <a:srgbClr val="0E3F8C"/>
                </a:solidFill>
                <a:latin typeface="Microsoft YaHei"/>
                <a:ea typeface="Microsoft YaHei"/>
              </a:rPr>
              <a:t>排查「实体太少」时，先看这里，再看抽取。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30" y="4224528"/>
            <a:ext cx="11430000" cy="1828800"/>
          </a:xfrm>
          <a:prstGeom prst="roundRect">
            <a:avLst>
              <a:gd name="adj" fmla="val 3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62" y="4370832"/>
            <a:ext cx="1091793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900" b="1" i="0">
                <a:solidFill>
                  <a:srgbClr val="FFC107"/>
                </a:solidFill>
                <a:latin typeface="Microsoft YaHei"/>
                <a:ea typeface="Microsoft YaHei"/>
              </a:rPr>
              <a:t>本体 10 个类型的硬顶，在这里变成实体多样性的天花板。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一个真实后果：如果本体里没有「消费者协会」这类组织，相关实体全部进不了图，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后续也就不会有人设、不会参与模拟——它在第一步就被提示词的「10 个」挤掉了。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91840" y="0"/>
            <a:ext cx="54864" cy="685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200" b="1" i="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96596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800" b="1" i="0">
                <a:solidFill>
                  <a:srgbClr val="0E3F8C"/>
                </a:solidFill>
                <a:latin typeface="Microsoft YaHei"/>
                <a:ea typeface="Microsoft YaHei"/>
              </a:rPr>
              <a:t>图谱到智能体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3182112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9663" y="3063240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实体如何被写成人设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3840480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9663" y="3721608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行为参数与事件如何被配置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4498848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9663" y="4379976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哪些参数是模型猜出来的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603504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第 14 页 / 共 21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3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阶段 ⑤：画像生成——把实体写成人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oasis_profile_generator.py，每个实体一次模型调用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30" y="1188720"/>
            <a:ext cx="5029200" cy="484632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30" y="1188720"/>
            <a:ext cx="5029200" cy="40233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30" y="1188720"/>
            <a:ext cx="5029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输入：四段拼起来的上下文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486" y="1755648"/>
            <a:ext cx="459028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① 实体属性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450" b="0" i="0">
                <a:solidFill>
                  <a:srgbClr val="4A5568"/>
                </a:solidFill>
                <a:latin typeface="Microsoft YaHei"/>
                <a:ea typeface="Microsoft YaHei"/>
              </a:rPr>
              <a:t>   full_name、role 等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② 相关事实与关系（来自边的 fact）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450" b="0" i="0">
                <a:solidFill>
                  <a:srgbClr val="4A5568"/>
                </a:solidFill>
                <a:latin typeface="Microsoft YaHei"/>
                <a:ea typeface="Microsoft YaHei"/>
              </a:rPr>
              <a:t>   罗永浩质疑西贝使用预制菜…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③ 关联实体摘要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450" b="0" i="0">
                <a:solidFill>
                  <a:srgbClr val="4A5568"/>
                </a:solidFill>
                <a:latin typeface="Microsoft YaHei"/>
                <a:ea typeface="Microsoft YaHei"/>
              </a:rPr>
              <a:t>   西贝（Company）：连锁餐饮企业…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④ Zep 检索补充的事实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450" b="0" i="0">
                <a:solidFill>
                  <a:srgbClr val="4A5568"/>
                </a:solidFill>
                <a:latin typeface="Microsoft YaHei"/>
                <a:ea typeface="Microsoft YaHei"/>
              </a:rPr>
              <a:t>   图搜索 top 结果去重后并入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8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500" b="1" i="0">
                <a:solidFill>
                  <a:srgbClr val="D9534F"/>
                </a:solidFill>
                <a:latin typeface="Microsoft YaHei"/>
                <a:ea typeface="Microsoft YaHei"/>
              </a:rPr>
              <a:t>上下文整体截断到 3000 字符。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500" b="0" i="0">
                <a:solidFill>
                  <a:srgbClr val="1A2230"/>
                </a:solidFill>
                <a:latin typeface="Microsoft YaHei"/>
                <a:ea typeface="Microsoft YaHei"/>
              </a:rPr>
              <a:t>实体在图上边太少 → 上下文就薄 → 人设就空。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188720"/>
            <a:ext cx="61722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23560" y="1188720"/>
            <a:ext cx="6172200" cy="402336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1188720"/>
            <a:ext cx="6172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输出：OasisAgentProfile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755648"/>
            <a:ext cx="58064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{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"bio": "锤子科技创始人，知名意见领袖…",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"persona": "（约 2000 字：基本信息 /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 人物背景 / 性格特征 / 社媒行为 /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 立场观点 / 个人记忆）",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"age": 53,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"gender": "male",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"mbti": "ENTP",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"country": "中国",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"profession": "创业者",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"interested_topics": ["餐饮","消费者权益"]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4315968"/>
            <a:ext cx="5806440" cy="1691640"/>
          </a:xfrm>
          <a:prstGeom prst="roundRect">
            <a:avLst>
              <a:gd name="adj" fmla="val 3000"/>
            </a:avLst>
          </a:prstGeom>
          <a:solidFill>
            <a:srgbClr val="E8EFF8"/>
          </a:solidFill>
          <a:ln w="127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4425696"/>
            <a:ext cx="5440680" cy="1517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b="0" i="0">
                <a:solidFill>
                  <a:srgbClr val="0E3F8C"/>
                </a:solidFill>
                <a:latin typeface="Microsoft YaHei"/>
                <a:ea typeface="Microsoft YaHei"/>
              </a:rPr>
              <a:t>提示词明确要求 persona 包含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b="0" i="0">
                <a:solidFill>
                  <a:srgbClr val="0E3F8C"/>
                </a:solidFill>
                <a:latin typeface="Microsoft YaHei"/>
                <a:ea typeface="Microsoft YaHei"/>
              </a:rPr>
              <a:t>「这个个体在事件中的已有动作与反应」，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</a:rPr>
              <a:t>让智能体带着真实历史进场。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600" b="0" i="0">
                <a:solidFill>
                  <a:srgbClr val="1A223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 i="0">
                <a:solidFill>
                  <a:srgbClr val="D9534F"/>
                </a:solidFill>
                <a:latin typeface="Microsoft YaHei"/>
                <a:ea typeface="Microsoft YaHei"/>
              </a:rPr>
              <a:t>已知缺陷：follower_count 硬编码 150，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 i="0">
                <a:solidFill>
                  <a:srgbClr val="D9534F"/>
                </a:solidFill>
                <a:latin typeface="Microsoft YaHei"/>
                <a:ea typeface="Microsoft YaHei"/>
              </a:rPr>
              <a:t>影响力维度目前是假的。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3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阶段 ⑥：行为与事件配置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simulation_config_generator.py，把实体翻译成可执行的模拟参数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30" y="1188720"/>
            <a:ext cx="5532120" cy="370332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30" y="1188720"/>
            <a:ext cx="5532120" cy="40233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30" y="1188720"/>
            <a:ext cx="5532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行为配置：9 个字段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486" y="1755648"/>
            <a:ext cx="5093208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Consolas"/>
                <a:ea typeface="Consolas"/>
              </a:rPr>
              <a:t>activity_level 活跃度 0–1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Consolas"/>
                <a:ea typeface="Consolas"/>
              </a:rPr>
              <a:t>posts_per_hour 发帖频率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Consolas"/>
                <a:ea typeface="Consolas"/>
              </a:rPr>
              <a:t>comments_per_hour 评论频率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Consolas"/>
                <a:ea typeface="Consolas"/>
              </a:rPr>
              <a:t>active_hours 活跃时段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Consolas"/>
                <a:ea typeface="Consolas"/>
              </a:rPr>
              <a:t>response_delay_min / max 响应延迟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Consolas"/>
                <a:ea typeface="Consolas"/>
              </a:rPr>
              <a:t>sentiment_bias 情绪倾向 −1~1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Consolas"/>
                <a:ea typeface="Consolas"/>
              </a:rPr>
              <a:t>stance 立场（4 选 1 英文枚举）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Consolas"/>
                <a:ea typeface="Consolas"/>
              </a:rPr>
              <a:t>influence_weight 影响力权重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88720"/>
            <a:ext cx="5532120" cy="3703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532120" cy="402336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532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事件与时间配置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5166360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EventConfig: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hot_topics: ["预制菜","定价","知情权"]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narrative_direction: "从个人质疑扩散…"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initial_posts: [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{ "content": "西贝的菜…",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  "poster_type": "Celebrity" }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]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TimeSimulationConfig: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total_simulation_hours: 72   # 模型拍的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peak_hours: [19,20,21,22]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off_peak_hours: [0..5]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30" y="5074920"/>
            <a:ext cx="11430000" cy="987552"/>
          </a:xfrm>
          <a:prstGeom prst="roundRect">
            <a:avLst>
              <a:gd name="adj" fmla="val 3000"/>
            </a:avLst>
          </a:prstGeom>
          <a:solidFill>
            <a:srgbClr val="E8EFF8"/>
          </a:solidFill>
          <a:ln w="127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30" y="5074920"/>
            <a:ext cx="1097280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50" b="0" i="0">
                <a:solidFill>
                  <a:srgbClr val="0E3F8C"/>
                </a:solidFill>
                <a:latin typeface="Microsoft YaHei"/>
                <a:ea typeface="Microsoft YaHei"/>
              </a:rPr>
              <a:t>提示词里硬编码了一组经验规则：官方机构活跃度 0.1–0.3、媒体全天响应快、个人晚间活跃。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50" b="1" i="0">
                <a:solidFill>
                  <a:srgbClr val="D9534F"/>
                </a:solidFill>
                <a:latin typeface="Microsoft YaHei"/>
                <a:ea typeface="Microsoft YaHei"/>
              </a:rPr>
              <a:t>而 total_simulation_hours、hot_topics、initial_posts 完全靠模型从文档里猜——这是可优化点。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91840" y="0"/>
            <a:ext cx="54864" cy="685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200" b="1" i="0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96596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800" b="1" i="0">
                <a:solidFill>
                  <a:srgbClr val="0E3F8C"/>
                </a:solidFill>
                <a:latin typeface="Microsoft YaHei"/>
                <a:ea typeface="Microsoft YaHei"/>
              </a:rPr>
              <a:t>变形复盘与附录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3182112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9663" y="3063240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同一条素材的七次改写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3840480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9663" y="3721608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信息在哪些步骤悄悄丢失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4498848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9663" y="4379976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断点清单与离线验证命令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603504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第 17 页 / 共 21 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3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变形复盘：同一条素材的七次改写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以「罗永浩质疑西贝」为例，看信息如何被逐步结构化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30" y="1207008"/>
          <a:ext cx="114300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554480"/>
                <a:gridCol w="6583680"/>
                <a:gridCol w="2743200"/>
              </a:tblGrid>
              <a:tr h="5435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</a:p>
                  </a:txBody>
                  <a:tcPr anchor="ctr" marL="91440" marT="27432" marB="27432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形态</a:t>
                      </a:r>
                    </a:p>
                  </a:txBody>
                  <a:tcPr anchor="ctr" marL="91440" marT="27432" marB="27432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内容示例</a:t>
                      </a:r>
                    </a:p>
                  </a:txBody>
                  <a:tcPr anchor="ctr" marL="91440" marT="27432" marB="27432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结构</a:t>
                      </a:r>
                    </a:p>
                  </a:txBody>
                  <a:tcPr anchor="ctr" marL="91440" marT="27432" marB="27432">
                    <a:solidFill>
                      <a:srgbClr val="0E3F8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 anchor="ctr"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原始文章</a:t>
                      </a:r>
                    </a:p>
                  </a:txBody>
                  <a:tcPr anchor="ctr"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2230"/>
                          </a:solidFill>
                          <a:latin typeface="Consolas"/>
                          <a:ea typeface="Consolas"/>
                        </a:rPr>
                        <a:t>2026 年 9 月 18 日晚，罗永浩发微博质疑西贝…</a:t>
                      </a:r>
                    </a:p>
                  </a:txBody>
                  <a:tcPr anchor="ctr"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自由文本</a:t>
                      </a:r>
                    </a:p>
                  </a:txBody>
                  <a:tcPr anchor="ctr" marL="91440" marT="27432" marB="27432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anchor="ctr" marL="91440" marT="27432" marB="27432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文档文本</a:t>
                      </a:r>
                    </a:p>
                  </a:txBody>
                  <a:tcPr anchor="ctr" marL="91440" marT="27432" marB="27432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2230"/>
                          </a:solidFill>
                          <a:latin typeface="Consolas"/>
                          <a:ea typeface="Consolas"/>
                        </a:rPr>
                        <a:t>=== 文档 1: xxx.md ===</a:t>
                      </a:r>
                    </a:p>
                    <a:p>
                      <a:r>
                        <a:t>2026 年 9 月 18 日…</a:t>
                      </a:r>
                    </a:p>
                  </a:txBody>
                  <a:tcPr anchor="ctr" marL="91440" marT="27432" marB="27432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str + 文档头</a:t>
                      </a:r>
                    </a:p>
                  </a:txBody>
                  <a:tcPr anchor="ctr" marL="91440" marT="27432" marB="27432">
                    <a:solidFill>
                      <a:srgbClr val="F0F5F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anchor="ctr"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文本块</a:t>
                      </a:r>
                    </a:p>
                  </a:txBody>
                  <a:tcPr anchor="ctr"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2230"/>
                          </a:solidFill>
                          <a:latin typeface="Consolas"/>
                          <a:ea typeface="Consolas"/>
                        </a:rPr>
                        <a:t>…发微博质疑西贝使用预制菜…（500 字符窗口）</a:t>
                      </a:r>
                    </a:p>
                  </a:txBody>
                  <a:tcPr anchor="ctr"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List[str]</a:t>
                      </a:r>
                    </a:p>
                  </a:txBody>
                  <a:tcPr anchor="ctr" marL="91440" marT="27432" marB="27432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anchor="ctr" marL="91440" marT="27432" marB="27432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本体</a:t>
                      </a:r>
                    </a:p>
                  </a:txBody>
                  <a:tcPr anchor="ctr" marL="91440" marT="27432" marB="27432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2230"/>
                          </a:solidFill>
                          <a:latin typeface="Consolas"/>
                          <a:ea typeface="Consolas"/>
                        </a:rPr>
                        <a:t>Celebrity / Company / CRITICIZES</a:t>
                      </a:r>
                    </a:p>
                  </a:txBody>
                  <a:tcPr anchor="ctr" marL="91440" marT="27432" marB="27432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dict（schema）</a:t>
                      </a:r>
                    </a:p>
                  </a:txBody>
                  <a:tcPr anchor="ctr" marL="91440" marT="27432" marB="27432">
                    <a:solidFill>
                      <a:srgbClr val="F0F5F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anchor="ctr"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图节点</a:t>
                      </a:r>
                    </a:p>
                  </a:txBody>
                  <a:tcPr anchor="ctr"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2230"/>
                          </a:solidFill>
                          <a:latin typeface="Consolas"/>
                          <a:ea typeface="Consolas"/>
                        </a:rPr>
                        <a:t>name=罗永浩, labels=[Entity, Celebrity]</a:t>
                      </a:r>
                    </a:p>
                  </a:txBody>
                  <a:tcPr anchor="ctr"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Zep 节点</a:t>
                      </a:r>
                    </a:p>
                  </a:txBody>
                  <a:tcPr anchor="ctr" marL="91440" marT="27432" marB="27432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anchor="ctr" marL="91440" marT="27432" marB="27432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图边</a:t>
                      </a:r>
                    </a:p>
                  </a:txBody>
                  <a:tcPr anchor="ctr" marL="91440" marT="27432" marB="27432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2230"/>
                          </a:solidFill>
                          <a:latin typeface="Consolas"/>
                          <a:ea typeface="Consolas"/>
                        </a:rPr>
                        <a:t>CRITICIZES: 罗永浩 → 西贝（fact 文本）</a:t>
                      </a:r>
                    </a:p>
                  </a:txBody>
                  <a:tcPr anchor="ctr" marL="91440" marT="27432" marB="27432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Zep 边</a:t>
                      </a:r>
                    </a:p>
                  </a:txBody>
                  <a:tcPr anchor="ctr" marL="91440" marT="27432" marB="27432">
                    <a:solidFill>
                      <a:srgbClr val="F0F5F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anchor="ctr"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实体对象</a:t>
                      </a:r>
                    </a:p>
                  </a:txBody>
                  <a:tcPr anchor="ctr"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2230"/>
                          </a:solidFill>
                          <a:latin typeface="Consolas"/>
                          <a:ea typeface="Consolas"/>
                        </a:rPr>
                        <a:t>EntityNode + related_edges + related_nodes</a:t>
                      </a:r>
                    </a:p>
                  </a:txBody>
                  <a:tcPr anchor="ctr"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dataclass</a:t>
                      </a:r>
                    </a:p>
                  </a:txBody>
                  <a:tcPr anchor="ctr" marL="91440" marT="27432" marB="27432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7</a:t>
                      </a:r>
                    </a:p>
                  </a:txBody>
                  <a:tcPr anchor="ctr" marL="91440" marT="27432" marB="27432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智能体</a:t>
                      </a:r>
                    </a:p>
                  </a:txBody>
                  <a:tcPr anchor="ctr" marL="91440" marT="27432" marB="27432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2230"/>
                          </a:solidFill>
                          <a:latin typeface="Consolas"/>
                          <a:ea typeface="Consolas"/>
                        </a:rPr>
                        <a:t>persona 2000 字 + stance=opposing + influence 2.8</a:t>
                      </a:r>
                    </a:p>
                  </a:txBody>
                  <a:tcPr anchor="ctr" marL="91440" marT="27432" marB="27432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profile + config</a:t>
                      </a:r>
                    </a:p>
                  </a:txBody>
                  <a:tcPr anchor="ctr" marL="91440" marT="27432" marB="27432"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30" y="619963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 i="0">
                <a:solidFill>
                  <a:srgbClr val="0E3F8C"/>
                </a:solidFill>
                <a:latin typeface="Microsoft YaHei"/>
                <a:ea typeface="Microsoft YaHei"/>
              </a:rPr>
              <a:t>规律：前两步在做「降维」（文本 → 窗口），中间在「升维」（加类型与关系），最后又「降维」成人设文本。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3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信息衰减：什么在每一步悄悄丢了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这是判断「为什么模拟结果不对」的第一张地图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30" y="1170432"/>
            <a:ext cx="11430000" cy="9326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30" y="1170432"/>
            <a:ext cx="82296" cy="93268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30" y="1261872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50" b="1" i="0">
                <a:solidFill>
                  <a:srgbClr val="0E3F8C"/>
                </a:solidFill>
                <a:latin typeface="Microsoft YaHei"/>
                <a:ea typeface="Microsoft YaHei"/>
              </a:rPr>
              <a:t>阶段 0 切块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30" y="1645920"/>
            <a:ext cx="19202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D9534F"/>
                </a:solidFill>
                <a:latin typeface="Microsoft YaHei"/>
                <a:ea typeface="Microsoft YaHei"/>
              </a:rPr>
              <a:t>来源、发布时间、传播量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371600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切块只保留字符，元信息不在块内 → 后文无从得知这条来自哪、什么时候。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30" y="2167128"/>
            <a:ext cx="11430000" cy="9326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30" y="2167128"/>
            <a:ext cx="82296" cy="93268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30" y="2258568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50" b="1" i="0">
                <a:solidFill>
                  <a:srgbClr val="0E3F8C"/>
                </a:solidFill>
                <a:latin typeface="Microsoft YaHei"/>
                <a:ea typeface="Microsoft YaHei"/>
              </a:rPr>
              <a:t>阶段 ③ 抽取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30" y="2642616"/>
            <a:ext cx="19202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D9534F"/>
                </a:solidFill>
                <a:latin typeface="Microsoft YaHei"/>
                <a:ea typeface="Microsoft YaHei"/>
              </a:rPr>
              <a:t>时间与顺序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368296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BatchAddItem 支持 created_at 但没有传，所有 episode 时间都是「现在」，演化顺序失真。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030" y="3163824"/>
            <a:ext cx="11430000" cy="9326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1030" y="3163824"/>
            <a:ext cx="82296" cy="93268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30" y="3255264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50" b="1" i="0">
                <a:solidFill>
                  <a:srgbClr val="0E3F8C"/>
                </a:solidFill>
                <a:latin typeface="Microsoft YaHei"/>
                <a:ea typeface="Microsoft YaHei"/>
              </a:rPr>
              <a:t>阶段 ④ 过滤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30" y="3639312"/>
            <a:ext cx="19202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D9534F"/>
                </a:solidFill>
                <a:latin typeface="Microsoft YaHei"/>
                <a:ea typeface="Microsoft YaHei"/>
              </a:rPr>
              <a:t>本体未覆盖的实体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364992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只有 Entity / Node 标签的节点被丢弃，10 个类型之外的实体全部消失。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030" y="4160520"/>
            <a:ext cx="11430000" cy="9326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1030" y="4160520"/>
            <a:ext cx="82296" cy="93268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30" y="4251960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50" b="1" i="0">
                <a:solidFill>
                  <a:srgbClr val="0E3F8C"/>
                </a:solidFill>
                <a:latin typeface="Microsoft YaHei"/>
                <a:ea typeface="Microsoft YaHei"/>
              </a:rPr>
              <a:t>阶段 ⑤ 画像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30" y="4636008"/>
            <a:ext cx="19202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FFC107"/>
                </a:solidFill>
                <a:latin typeface="Microsoft YaHei"/>
                <a:ea typeface="Microsoft YaHei"/>
              </a:rPr>
              <a:t>上下文之外的细节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361688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上下文截断 3000 字符；边少的实体写出来的 persona 会很空。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30" y="5157216"/>
            <a:ext cx="11430000" cy="9326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1030" y="5157216"/>
            <a:ext cx="82296" cy="93268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30" y="5248656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50" b="1" i="0">
                <a:solidFill>
                  <a:srgbClr val="0E3F8C"/>
                </a:solidFill>
                <a:latin typeface="Microsoft YaHei"/>
                <a:ea typeface="Microsoft YaHei"/>
              </a:rPr>
              <a:t>阶段 ⑥ 配置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30" y="5632704"/>
            <a:ext cx="19202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FFC107"/>
                </a:solidFill>
                <a:latin typeface="Microsoft YaHei"/>
                <a:ea typeface="Microsoft YaHei"/>
              </a:rPr>
              <a:t>真实影响力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5358384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follower_count 硬编码 150，用户名后缀随机数，影响力维度目前不反映现实。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1030" y="6053328"/>
            <a:ext cx="11430000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3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附录：断点清单与离线验证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不用启动服务就能验证前面大部分结论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30" y="1188720"/>
            <a:ext cx="5532120" cy="48280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30" y="1188720"/>
            <a:ext cx="5532120" cy="40233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30" y="1188720"/>
            <a:ext cx="5532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断点打在这四处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486" y="1755648"/>
            <a:ext cx="5093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50" b="1" i="0">
                <a:solidFill>
                  <a:srgbClr val="0E3F8C"/>
                </a:solidFill>
                <a:latin typeface="Consolas"/>
                <a:ea typeface="Consolas"/>
              </a:rPr>
              <a:t>ontology_generator.py:235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看模型收到的完整 messages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50" b="1" i="0">
                <a:solidFill>
                  <a:srgbClr val="0E3F8C"/>
                </a:solidFill>
                <a:latin typeface="Consolas"/>
                <a:ea typeface="Consolas"/>
              </a:rPr>
              <a:t>graph_builder.py:470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看喂给 Zep 的文本块长什么样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50" b="1" i="0">
                <a:solidFill>
                  <a:srgbClr val="0E3F8C"/>
                </a:solidFill>
                <a:latin typeface="Consolas"/>
                <a:ea typeface="Consolas"/>
              </a:rPr>
              <a:t>oasis_profile_generator.py:530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看画像的上下文够不够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50" b="1" i="0">
                <a:solidFill>
                  <a:srgbClr val="0E3F8C"/>
                </a:solidFill>
                <a:latin typeface="Consolas"/>
                <a:ea typeface="Consolas"/>
              </a:rPr>
              <a:t>report_agent.py:1460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看工具调用如何执行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88720"/>
            <a:ext cx="5532120" cy="482803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532120" cy="402336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532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零成本看提示词（不烧 token）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5166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from app.services.ontology_generator \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import OntologyGenerator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# 用 __new__ 绕过 __init__，不建 LLMClient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g = OntologyGenerator.__new__(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    OntologyGenerator)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print(g._build_user_message(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["罗永浩质疑西贝预制菜"],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"预测西贝舆情走势", None))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224528"/>
            <a:ext cx="5166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四个会浪费时间的坑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1. 后台线程异常被 fail_task 吞掉，日志无堆栈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2. TaskManager 是内存单例，重启后任务全丢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3. 调试配置必须加 --no-reload，否则断点不命中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4. 模拟子进程断点进不去，需手动运行脚本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969" cy="5486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82296" cy="27432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691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</a:rPr>
              <a:t>三句话记住这套系统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2862072"/>
            <a:ext cx="146304" cy="3840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2768" y="278892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300" b="1" i="0">
                <a:solidFill>
                  <a:srgbClr val="FFC107"/>
                </a:solidFill>
                <a:latin typeface="Microsoft YaHei"/>
                <a:ea typeface="Microsoft YaHei"/>
              </a:rPr>
              <a:t>数据只认文本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3264408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</a:rPr>
              <a:t>结构化字段必须渲染进正文，否则等于没传。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3913632"/>
            <a:ext cx="146304" cy="3840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2768" y="384048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300" b="1" i="0">
                <a:solidFill>
                  <a:srgbClr val="FFC107"/>
                </a:solidFill>
                <a:latin typeface="Microsoft YaHei"/>
                <a:ea typeface="Microsoft YaHei"/>
              </a:rPr>
              <a:t>抽取不在本地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4315968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</a:rPr>
              <a:t>实体与边由 Zep 云端完成，能改的只有本体定义与文本质量。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4965192"/>
            <a:ext cx="146304" cy="3840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72768" y="489204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300" b="1" i="0">
                <a:solidFill>
                  <a:srgbClr val="FFC107"/>
                </a:solidFill>
                <a:latin typeface="Microsoft YaHei"/>
                <a:ea typeface="Microsoft YaHei"/>
              </a:rPr>
              <a:t>领域自适应在本体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5367528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</a:rPr>
              <a:t>10 个类型由模型按任务现场生成，种子越通用，下游越自由。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64282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配套文档：docs/debugging-guide.md · docs/tech-roadmap.md · docs/seed-package-schema.md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